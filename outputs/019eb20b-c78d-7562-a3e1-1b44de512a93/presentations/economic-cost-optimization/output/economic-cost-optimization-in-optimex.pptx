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7190" autoAdjust="0"/>
  </p:normalViewPr>
  <p:slideViewPr>
    <p:cSldViewPr snapToGrid="0">
      <p:cViewPr>
        <p:scale>
          <a:sx n="72" d="100"/>
          <a:sy n="72" d="100"/>
        </p:scale>
        <p:origin x="107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Kurz </a:t>
            </a:r>
            <a:r>
              <a:rPr dirty="0" err="1"/>
              <a:t>einsteigen</a:t>
            </a:r>
            <a:r>
              <a:rPr dirty="0"/>
              <a:t>: Der </a:t>
            </a:r>
            <a:r>
              <a:rPr dirty="0" err="1"/>
              <a:t>Betreuer</a:t>
            </a:r>
            <a:r>
              <a:rPr dirty="0"/>
              <a:t> </a:t>
            </a:r>
            <a:r>
              <a:rPr dirty="0" err="1"/>
              <a:t>kennt</a:t>
            </a:r>
            <a:r>
              <a:rPr dirty="0"/>
              <a:t> Motivation und </a:t>
            </a:r>
            <a:r>
              <a:rPr dirty="0" err="1"/>
              <a:t>Modellidee</a:t>
            </a:r>
            <a:r>
              <a:rPr dirty="0"/>
              <a:t> </a:t>
            </a:r>
            <a:r>
              <a:rPr dirty="0" err="1"/>
              <a:t>bereits</a:t>
            </a:r>
            <a:r>
              <a:rPr dirty="0"/>
              <a:t>. Ich </a:t>
            </a:r>
            <a:r>
              <a:rPr dirty="0" err="1"/>
              <a:t>rahme</a:t>
            </a:r>
            <a:r>
              <a:rPr dirty="0"/>
              <a:t> </a:t>
            </a:r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den Stand: Was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implementiert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fliesst</a:t>
            </a:r>
            <a:r>
              <a:rPr dirty="0"/>
              <a:t> </a:t>
            </a:r>
            <a:r>
              <a:rPr dirty="0" err="1"/>
              <a:t>Preisinput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optimex,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es </a:t>
            </a:r>
            <a:r>
              <a:rPr dirty="0" err="1"/>
              <a:t>getestet</a:t>
            </a:r>
            <a:r>
              <a:rPr dirty="0"/>
              <a:t>, und 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Entscheidungen</a:t>
            </a:r>
            <a:r>
              <a:rPr dirty="0"/>
              <a:t> </a:t>
            </a:r>
            <a:r>
              <a:rPr dirty="0" err="1"/>
              <a:t>brauche</a:t>
            </a:r>
            <a:r>
              <a:rPr dirty="0"/>
              <a:t> ich </a:t>
            </a:r>
            <a:r>
              <a:rPr dirty="0" err="1"/>
              <a:t>noch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Nur </a:t>
            </a:r>
            <a:r>
              <a:rPr dirty="0" err="1"/>
              <a:t>kurz</a:t>
            </a:r>
            <a:r>
              <a:rPr dirty="0"/>
              <a:t> </a:t>
            </a:r>
            <a:r>
              <a:rPr dirty="0" err="1"/>
              <a:t>rekapitulieren</a:t>
            </a:r>
            <a:r>
              <a:rPr dirty="0"/>
              <a:t>: </a:t>
            </a:r>
            <a:br>
              <a:rPr lang="de-DE" dirty="0"/>
            </a:br>
            <a:r>
              <a:rPr lang="de-DE" dirty="0"/>
              <a:t>- </a:t>
            </a:r>
            <a:r>
              <a:rPr dirty="0"/>
              <a:t>Die </a:t>
            </a:r>
            <a:r>
              <a:rPr dirty="0" err="1"/>
              <a:t>Kostenlogik</a:t>
            </a:r>
            <a:r>
              <a:rPr dirty="0"/>
              <a:t> </a:t>
            </a:r>
            <a:r>
              <a:rPr dirty="0" err="1"/>
              <a:t>bewertet</a:t>
            </a:r>
            <a:r>
              <a:rPr dirty="0"/>
              <a:t> </a:t>
            </a:r>
            <a:r>
              <a:rPr dirty="0" err="1"/>
              <a:t>direkte</a:t>
            </a:r>
            <a:r>
              <a:rPr dirty="0"/>
              <a:t> Background-</a:t>
            </a:r>
            <a:r>
              <a:rPr dirty="0" err="1"/>
              <a:t>Einkaeufe</a:t>
            </a:r>
            <a:r>
              <a:rPr dirty="0"/>
              <a:t> des Foreground-Systems. Upstream </a:t>
            </a:r>
            <a:r>
              <a:rPr dirty="0" err="1"/>
              <a:t>bleibt</a:t>
            </a:r>
            <a:r>
              <a:rPr dirty="0"/>
              <a:t> </a:t>
            </a:r>
            <a:r>
              <a:rPr dirty="0" err="1"/>
              <a:t>fuer</a:t>
            </a:r>
            <a:r>
              <a:rPr dirty="0"/>
              <a:t> </a:t>
            </a:r>
            <a:r>
              <a:rPr dirty="0" err="1"/>
              <a:t>Umweltwirkungen</a:t>
            </a:r>
            <a:r>
              <a:rPr dirty="0"/>
              <a:t> relevant,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aber</a:t>
            </a:r>
            <a:r>
              <a:rPr dirty="0"/>
              <a:t> nicht </a:t>
            </a:r>
            <a:r>
              <a:rPr dirty="0" err="1"/>
              <a:t>rekursiv</a:t>
            </a:r>
            <a:r>
              <a:rPr dirty="0"/>
              <a:t> </a:t>
            </a:r>
            <a:r>
              <a:rPr dirty="0" err="1"/>
              <a:t>bepreist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Hier den </a:t>
            </a:r>
            <a:r>
              <a:rPr dirty="0" err="1"/>
              <a:t>grossen</a:t>
            </a:r>
            <a:r>
              <a:rPr dirty="0"/>
              <a:t> </a:t>
            </a:r>
            <a:r>
              <a:rPr dirty="0" err="1"/>
              <a:t>Implementierungsfortschritt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: Es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nachtraegliches</a:t>
            </a:r>
            <a:r>
              <a:rPr dirty="0"/>
              <a:t> </a:t>
            </a:r>
            <a:r>
              <a:rPr dirty="0" err="1"/>
              <a:t>Dict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Notebook, </a:t>
            </a:r>
            <a:r>
              <a:rPr dirty="0" err="1"/>
              <a:t>sondern</a:t>
            </a:r>
            <a:r>
              <a:rPr dirty="0"/>
              <a:t> die </a:t>
            </a:r>
            <a:r>
              <a:rPr dirty="0" err="1"/>
              <a:t>Informationen</a:t>
            </a:r>
            <a:r>
              <a:rPr dirty="0"/>
              <a:t> </a:t>
            </a:r>
            <a:r>
              <a:rPr dirty="0" err="1"/>
              <a:t>laufen</a:t>
            </a:r>
            <a:r>
              <a:rPr dirty="0"/>
              <a:t> </a:t>
            </a:r>
            <a:r>
              <a:rPr dirty="0" err="1"/>
              <a:t>vom</a:t>
            </a:r>
            <a:r>
              <a:rPr dirty="0"/>
              <a:t> </a:t>
            </a:r>
            <a:r>
              <a:rPr dirty="0" err="1"/>
              <a:t>Brightway-Preisinput</a:t>
            </a:r>
            <a:r>
              <a:rPr dirty="0"/>
              <a:t> bis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Pyomo</a:t>
            </a:r>
            <a:r>
              <a:rPr dirty="0"/>
              <a:t> Objective </a:t>
            </a:r>
            <a:r>
              <a:rPr dirty="0" err="1"/>
              <a:t>durch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Diese</a:t>
            </a:r>
            <a:r>
              <a:rPr dirty="0"/>
              <a:t> Folie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wichtig</a:t>
            </a:r>
            <a:r>
              <a:rPr dirty="0"/>
              <a:t> </a:t>
            </a:r>
            <a:r>
              <a:rPr dirty="0" err="1"/>
              <a:t>fuer</a:t>
            </a:r>
            <a:r>
              <a:rPr dirty="0"/>
              <a:t> die User-</a:t>
            </a:r>
            <a:r>
              <a:rPr dirty="0" err="1"/>
              <a:t>Schnittstelle</a:t>
            </a:r>
            <a:r>
              <a:rPr dirty="0"/>
              <a:t>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- </a:t>
            </a:r>
            <a:r>
              <a:rPr dirty="0" err="1"/>
              <a:t>Nutzer</a:t>
            </a:r>
            <a:r>
              <a:rPr dirty="0"/>
              <a:t> </a:t>
            </a:r>
            <a:r>
              <a:rPr dirty="0" err="1"/>
              <a:t>geben</a:t>
            </a:r>
            <a:r>
              <a:rPr dirty="0"/>
              <a:t> </a:t>
            </a:r>
            <a:r>
              <a:rPr dirty="0" err="1"/>
              <a:t>Tabellen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Name, Location, Jahr und Preis an.</a:t>
            </a:r>
            <a:br>
              <a:rPr lang="de-DE" dirty="0"/>
            </a:br>
            <a:r>
              <a:rPr lang="de-DE" dirty="0"/>
              <a:t>- </a:t>
            </a:r>
            <a:r>
              <a:rPr lang="en-US" sz="1200" b="0" kern="1200" dirty="0" err="1">
                <a:effectLst/>
              </a:rPr>
              <a:t>pandas.DataFrame</a:t>
            </a:r>
            <a:r>
              <a:rPr lang="en-US" sz="1200" b="0" kern="1200" dirty="0">
                <a:effectLst/>
              </a:rPr>
              <a:t> or sequence of </a:t>
            </a:r>
            <a:r>
              <a:rPr lang="en-US" sz="1200" b="0" kern="1200" dirty="0" err="1">
                <a:effectLst/>
              </a:rPr>
              <a:t>dict</a:t>
            </a:r>
            <a:br>
              <a:rPr lang="de-DE" dirty="0"/>
            </a:br>
            <a:r>
              <a:rPr lang="de-DE" dirty="0"/>
              <a:t>-</a:t>
            </a:r>
            <a:r>
              <a:rPr dirty="0"/>
              <a:t>Product und Unit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optionale</a:t>
            </a:r>
            <a:r>
              <a:rPr dirty="0"/>
              <a:t> </a:t>
            </a:r>
            <a:r>
              <a:rPr dirty="0" err="1"/>
              <a:t>Disambiguierer</a:t>
            </a:r>
            <a:r>
              <a:rPr dirty="0"/>
              <a:t>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-</a:t>
            </a:r>
            <a:r>
              <a:rPr dirty="0" err="1"/>
              <a:t>Brightway</a:t>
            </a:r>
            <a:r>
              <a:rPr dirty="0"/>
              <a:t> code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bewusst</a:t>
            </a:r>
            <a:r>
              <a:rPr dirty="0"/>
              <a:t> nicht der </a:t>
            </a:r>
            <a:r>
              <a:rPr dirty="0" err="1"/>
              <a:t>Zeitreihen</a:t>
            </a:r>
            <a:r>
              <a:rPr dirty="0"/>
              <a:t>-Identifier.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Hier den Kern des </a:t>
            </a:r>
            <a:r>
              <a:rPr dirty="0" err="1"/>
              <a:t>Datenflusses</a:t>
            </a:r>
            <a:r>
              <a:rPr dirty="0"/>
              <a:t> </a:t>
            </a:r>
            <a:r>
              <a:rPr dirty="0" err="1"/>
              <a:t>erklaeren</a:t>
            </a:r>
            <a:r>
              <a:rPr dirty="0"/>
              <a:t>: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1. </a:t>
            </a:r>
            <a:r>
              <a:rPr dirty="0"/>
              <a:t>erst </a:t>
            </a:r>
            <a:r>
              <a:rPr dirty="0" err="1"/>
              <a:t>werden</a:t>
            </a:r>
            <a:r>
              <a:rPr dirty="0"/>
              <a:t> cost-</a:t>
            </a:r>
            <a:r>
              <a:rPr dirty="0" err="1"/>
              <a:t>relevante</a:t>
            </a:r>
            <a:r>
              <a:rPr dirty="0"/>
              <a:t> externe Intermediate-Flows </a:t>
            </a:r>
            <a:r>
              <a:rPr dirty="0" err="1"/>
              <a:t>erkannt</a:t>
            </a:r>
            <a:r>
              <a:rPr dirty="0"/>
              <a:t>, </a:t>
            </a:r>
            <a:br>
              <a:rPr lang="de-DE" dirty="0"/>
            </a:br>
            <a:r>
              <a:rPr lang="de-DE" dirty="0"/>
              <a:t>2.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market_price</a:t>
            </a:r>
            <a:r>
              <a:rPr dirty="0"/>
              <a:t> pro Background-DB </a:t>
            </a:r>
            <a:r>
              <a:rPr dirty="0" err="1"/>
              <a:t>gelesen</a:t>
            </a:r>
            <a:r>
              <a:rPr dirty="0"/>
              <a:t>, </a:t>
            </a:r>
            <a:br>
              <a:rPr lang="de-DE" dirty="0"/>
            </a:br>
            <a:r>
              <a:rPr lang="de-DE" dirty="0"/>
              <a:t>3. </a:t>
            </a:r>
            <a:r>
              <a:rPr dirty="0"/>
              <a:t>per Mapping auf SYSTEM_TIME </a:t>
            </a:r>
            <a:r>
              <a:rPr dirty="0" err="1"/>
              <a:t>interpoliert</a:t>
            </a:r>
            <a:r>
              <a:rPr dirty="0"/>
              <a:t> und </a:t>
            </a:r>
            <a:br>
              <a:rPr lang="de-DE" dirty="0"/>
            </a:br>
            <a:r>
              <a:rPr lang="de-DE" dirty="0"/>
              <a:t>4. </a:t>
            </a:r>
            <a:r>
              <a:rPr dirty="0" err="1"/>
              <a:t>anhand</a:t>
            </a:r>
            <a:r>
              <a:rPr dirty="0"/>
              <a:t> der Foreground-Edge in cap/op </a:t>
            </a:r>
            <a:r>
              <a:rPr dirty="0" err="1"/>
              <a:t>geschrieben</a:t>
            </a:r>
            <a:r>
              <a:rPr dirty="0"/>
              <a:t>.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warnung</a:t>
            </a:r>
            <a:r>
              <a:rPr lang="de-DE" dirty="0"/>
              <a:t> oder </a:t>
            </a:r>
            <a:r>
              <a:rPr lang="de-DE" dirty="0" err="1"/>
              <a:t>error</a:t>
            </a:r>
            <a:r>
              <a:rPr lang="de-DE" dirty="0"/>
              <a:t> (</a:t>
            </a:r>
            <a:r>
              <a:rPr lang="de-DE" dirty="0" err="1"/>
              <a:t>strict</a:t>
            </a:r>
            <a:r>
              <a:rPr lang="de-DE" dirty="0"/>
              <a:t>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converter</a:t>
            </a:r>
            <a:r>
              <a:rPr lang="de-DE" dirty="0"/>
              <a:t> wurde um </a:t>
            </a:r>
            <a:r>
              <a:rPr lang="de-DE" dirty="0" err="1"/>
              <a:t>economic</a:t>
            </a:r>
            <a:r>
              <a:rPr lang="de-DE" dirty="0"/>
              <a:t> Felder erweitert. Validation + </a:t>
            </a:r>
            <a:r>
              <a:rPr lang="de-DE" dirty="0" err="1"/>
              <a:t>serialization</a:t>
            </a:r>
            <a:br>
              <a:rPr lang="de-DE" dirty="0"/>
            </a:br>
            <a:br>
              <a:rPr lang="de-DE" dirty="0"/>
            </a:br>
            <a:r>
              <a:rPr dirty="0"/>
              <a:t>Die </a:t>
            </a:r>
            <a:r>
              <a:rPr dirty="0" err="1"/>
              <a:t>neuen</a:t>
            </a:r>
            <a:r>
              <a:rPr dirty="0"/>
              <a:t> </a:t>
            </a:r>
            <a:r>
              <a:rPr lang="de-DE" dirty="0" err="1"/>
              <a:t>Economic</a:t>
            </a:r>
            <a:r>
              <a:rPr lang="de-DE" dirty="0"/>
              <a:t> </a:t>
            </a:r>
            <a:r>
              <a:rPr dirty="0"/>
              <a:t>Felder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Datenmodell</a:t>
            </a:r>
            <a:r>
              <a:rPr dirty="0"/>
              <a:t>,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validiert</a:t>
            </a:r>
            <a:r>
              <a:rPr dirty="0"/>
              <a:t>, </a:t>
            </a:r>
            <a:r>
              <a:rPr dirty="0" err="1"/>
              <a:t>aus</a:t>
            </a:r>
            <a:r>
              <a:rPr dirty="0"/>
              <a:t> dem Processor </a:t>
            </a:r>
            <a:r>
              <a:rPr dirty="0" err="1"/>
              <a:t>uebernommen</a:t>
            </a:r>
            <a:r>
              <a:rPr dirty="0"/>
              <a:t> und in JSON </a:t>
            </a:r>
            <a:r>
              <a:rPr dirty="0" err="1"/>
              <a:t>mit</a:t>
            </a:r>
            <a:r>
              <a:rPr dirty="0"/>
              <a:t> Tuple-Keys roundtripped.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pyomo</a:t>
            </a:r>
            <a:r>
              <a:rPr lang="de-DE" dirty="0"/>
              <a:t> </a:t>
            </a:r>
            <a:r>
              <a:rPr lang="de-DE" dirty="0" err="1"/>
              <a:t>modell</a:t>
            </a:r>
            <a:r>
              <a:rPr lang="de-DE" dirty="0"/>
              <a:t> wurde auch erweitert + </a:t>
            </a:r>
            <a:r>
              <a:rPr lang="de-DE" dirty="0" err="1"/>
              <a:t>objective</a:t>
            </a:r>
            <a:r>
              <a:rPr lang="de-DE" dirty="0"/>
              <a:t> switch eingeführt</a:t>
            </a:r>
          </a:p>
          <a:p>
            <a:br>
              <a:rPr lang="de-DE" dirty="0"/>
            </a:br>
            <a:r>
              <a:rPr dirty="0" err="1"/>
              <a:t>Wichtig</a:t>
            </a:r>
            <a:r>
              <a:rPr dirty="0"/>
              <a:t>: </a:t>
            </a:r>
            <a:r>
              <a:rPr dirty="0" err="1"/>
              <a:t>background_purchase_cap</a:t>
            </a:r>
            <a:r>
              <a:rPr dirty="0"/>
              <a:t>/op </a:t>
            </a:r>
            <a:r>
              <a:rPr dirty="0" err="1"/>
              <a:t>rechnet</a:t>
            </a:r>
            <a:r>
              <a:rPr dirty="0"/>
              <a:t> die </a:t>
            </a:r>
            <a:r>
              <a:rPr dirty="0" err="1"/>
              <a:t>skalierten</a:t>
            </a:r>
            <a:r>
              <a:rPr dirty="0"/>
              <a:t> Technosphere-Mengen </a:t>
            </a:r>
            <a:r>
              <a:rPr dirty="0" err="1"/>
              <a:t>wieder</a:t>
            </a:r>
            <a:r>
              <a:rPr dirty="0"/>
              <a:t> in </a:t>
            </a:r>
            <a:r>
              <a:rPr dirty="0" err="1"/>
              <a:t>reale</a:t>
            </a:r>
            <a:r>
              <a:rPr dirty="0"/>
              <a:t> </a:t>
            </a:r>
            <a:r>
              <a:rPr dirty="0" err="1"/>
              <a:t>Einheiten</a:t>
            </a:r>
            <a:r>
              <a:rPr dirty="0"/>
              <a:t> um, bevor </a:t>
            </a:r>
            <a:r>
              <a:rPr dirty="0" err="1"/>
              <a:t>Preise</a:t>
            </a:r>
            <a:r>
              <a:rPr dirty="0"/>
              <a:t> </a:t>
            </a:r>
            <a:r>
              <a:rPr dirty="0" err="1"/>
              <a:t>angewendet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Diese Folie trennt Objective und Nebenbedingungen. Auch wenn die Kosten minimiert werden, bleiben impact constraints nutzbar; objective_category wird weiter fuer Impacts und Constraints benoetigt.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Ich habe eigentlich zu jedem </a:t>
            </a:r>
            <a:r>
              <a:rPr lang="de-DE" dirty="0" err="1"/>
              <a:t>shit</a:t>
            </a:r>
            <a:r>
              <a:rPr lang="de-DE" dirty="0"/>
              <a:t> den ich gemacht habe Tests erweitert oder ergänzt</a:t>
            </a:r>
            <a:br>
              <a:rPr lang="de-DE" dirty="0"/>
            </a:br>
            <a:br>
              <a:rPr lang="de-DE" dirty="0"/>
            </a:br>
            <a:r>
              <a:rPr dirty="0"/>
              <a:t>Hier nicht </a:t>
            </a:r>
            <a:r>
              <a:rPr dirty="0" err="1"/>
              <a:t>jede</a:t>
            </a:r>
            <a:r>
              <a:rPr dirty="0"/>
              <a:t> </a:t>
            </a:r>
            <a:r>
              <a:rPr dirty="0" err="1"/>
              <a:t>Testfunktion</a:t>
            </a:r>
            <a:r>
              <a:rPr dirty="0"/>
              <a:t> </a:t>
            </a:r>
            <a:r>
              <a:rPr dirty="0" err="1"/>
              <a:t>vorlesen</a:t>
            </a:r>
            <a:r>
              <a:rPr dirty="0"/>
              <a:t>. Den </a:t>
            </a:r>
            <a:r>
              <a:rPr dirty="0" err="1"/>
              <a:t>Punkt</a:t>
            </a:r>
            <a:r>
              <a:rPr dirty="0"/>
              <a:t> </a:t>
            </a:r>
            <a:r>
              <a:rPr dirty="0" err="1"/>
              <a:t>machen</a:t>
            </a:r>
            <a:r>
              <a:rPr dirty="0"/>
              <a:t>: Die </a:t>
            </a:r>
            <a:r>
              <a:rPr dirty="0" err="1"/>
              <a:t>Erweiterung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gegen</a:t>
            </a:r>
            <a:r>
              <a:rPr dirty="0"/>
              <a:t> User-Input, </a:t>
            </a:r>
            <a:r>
              <a:rPr dirty="0" err="1"/>
              <a:t>Datenfluss</a:t>
            </a:r>
            <a:r>
              <a:rPr dirty="0"/>
              <a:t>, </a:t>
            </a:r>
            <a:r>
              <a:rPr dirty="0" err="1"/>
              <a:t>Formelverhalten</a:t>
            </a:r>
            <a:r>
              <a:rPr dirty="0"/>
              <a:t> und Solver-</a:t>
            </a:r>
            <a:r>
              <a:rPr dirty="0" err="1"/>
              <a:t>Verhalten</a:t>
            </a:r>
            <a:r>
              <a:rPr dirty="0"/>
              <a:t> </a:t>
            </a:r>
            <a:r>
              <a:rPr dirty="0" err="1"/>
              <a:t>abgesichert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Ich habe den ganzen </a:t>
            </a:r>
            <a:r>
              <a:rPr lang="de-DE" dirty="0" err="1"/>
              <a:t>shit</a:t>
            </a:r>
            <a:r>
              <a:rPr lang="de-DE" dirty="0"/>
              <a:t> dokumentiert – </a:t>
            </a:r>
            <a:r>
              <a:rPr lang="de-DE" dirty="0" err="1"/>
              <a:t>doku</a:t>
            </a:r>
            <a:r>
              <a:rPr lang="de-DE" dirty="0"/>
              <a:t> zeigen</a:t>
            </a:r>
            <a:br>
              <a:rPr lang="de-DE" dirty="0"/>
            </a:br>
            <a:br>
              <a:rPr lang="de-DE" dirty="0"/>
            </a:br>
            <a:r>
              <a:rPr dirty="0"/>
              <a:t>Den </a:t>
            </a:r>
            <a:r>
              <a:rPr dirty="0" err="1"/>
              <a:t>Produktreife</a:t>
            </a:r>
            <a:r>
              <a:rPr dirty="0"/>
              <a:t>-Gedanken </a:t>
            </a:r>
            <a:r>
              <a:rPr dirty="0" err="1"/>
              <a:t>hervorheben</a:t>
            </a:r>
            <a:r>
              <a:rPr dirty="0"/>
              <a:t>: </a:t>
            </a:r>
            <a:br>
              <a:rPr lang="de-DE" dirty="0"/>
            </a:br>
            <a:br>
              <a:rPr lang="de-DE" dirty="0"/>
            </a:br>
            <a:r>
              <a:rPr dirty="0"/>
              <a:t>Ziel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nur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das Notebook </a:t>
            </a:r>
            <a:r>
              <a:rPr dirty="0" err="1"/>
              <a:t>irgendwie</a:t>
            </a:r>
            <a:r>
              <a:rPr dirty="0"/>
              <a:t> </a:t>
            </a:r>
            <a:r>
              <a:rPr dirty="0" err="1"/>
              <a:t>laeuft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dass</a:t>
            </a:r>
            <a:r>
              <a:rPr dirty="0"/>
              <a:t> die </a:t>
            </a:r>
            <a:r>
              <a:rPr dirty="0" err="1"/>
              <a:t>Erweiterung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wartbare</a:t>
            </a:r>
            <a:r>
              <a:rPr dirty="0"/>
              <a:t> optimex-</a:t>
            </a:r>
            <a:r>
              <a:rPr dirty="0" err="1"/>
              <a:t>Funktion</a:t>
            </a:r>
            <a:r>
              <a:rPr dirty="0"/>
              <a:t> </a:t>
            </a:r>
            <a:r>
              <a:rPr dirty="0" err="1"/>
              <a:t>sichtbar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Nuanciert formulieren: Das Notebook ist adaptiert und enthaelt die E2E-Zellen. Die Preise sind illustrativ, nicht finale empirische Preisannahmen. Laut Roadmap ist vollstaendige lokale Ausfuehrung und Ergebnisinterpretation noch offen.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Diese Folie als Gespraechsagenda nutzen. Ziel ist, Entscheidungen einzusammeln: fachliche Passung, Strenge bei fehlenden Preisen, premise-Code-Instabilitaet und sinnvolle Ergebnisdarstellung in der Arbeit.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792CA4-2F88-4D08-817C-472A9E52E5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828CF6-E498-4BD9-B4D0-E9F53BC9B639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1428750" cy="3810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4E3EE1-7334-4DD7-8EED-929664059D40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2867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60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Economic Cost Optimization in optimex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F75B2B-835C-43A6-AD2D-866AB3E03984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666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7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Implementation status and discussion points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695C47-DA26-4BA4-8235-AC0242B8FC40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Implementation update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068C4E-1D9D-41A8-8F6D-6C16E29DCD8F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50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Focus: implemented pipeline, data flow, tests, documentation, and discussion points.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364820-F030-4406-94DC-FA437BF30868}"/>
              </a:ext>
            </a:extLst>
          </p:cNvPr>
          <p:cNvSpPr>
            <a:spLocks noGrp="1"/>
          </p:cNvSpPr>
          <p:nvPr/>
        </p:nvSpPr>
        <p:spPr>
          <a:xfrm>
            <a:off x="9105900" y="1428750"/>
            <a:ext cx="1790700" cy="285750"/>
          </a:xfrm>
          <a:prstGeom prst="rect">
            <a:avLst/>
          </a:prstGeom>
          <a:solidFill>
            <a:srgbClr val="DDE7DF"/>
          </a:solidFill>
          <a:ln w="9525">
            <a:solidFill>
              <a:srgbClr val="DDE7D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02DE00-5933-4D5B-99B5-19D9F2CC2F1B}"/>
              </a:ext>
            </a:extLst>
          </p:cNvPr>
          <p:cNvSpPr>
            <a:spLocks noGrp="1"/>
          </p:cNvSpPr>
          <p:nvPr/>
        </p:nvSpPr>
        <p:spPr>
          <a:xfrm>
            <a:off x="9182100" y="1495425"/>
            <a:ext cx="1638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82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optimex economics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E848D4-B89D-4C32-8EBE-F687E124E2DF}"/>
              </a:ext>
            </a:extLst>
          </p:cNvPr>
          <p:cNvSpPr>
            <a:spLocks noGrp="1"/>
          </p:cNvSpPr>
          <p:nvPr/>
        </p:nvSpPr>
        <p:spPr>
          <a:xfrm>
            <a:off x="9105900" y="1857375"/>
            <a:ext cx="1790700" cy="285750"/>
          </a:xfrm>
          <a:prstGeom prst="rect">
            <a:avLst/>
          </a:prstGeom>
          <a:solidFill>
            <a:srgbClr val="EFE0D6"/>
          </a:solidFill>
          <a:ln w="9525">
            <a:solidFill>
              <a:srgbClr val="EFE0D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4A69DD-6E71-4776-A09D-37DC29612848}"/>
              </a:ext>
            </a:extLst>
          </p:cNvPr>
          <p:cNvSpPr>
            <a:spLocks noGrp="1"/>
          </p:cNvSpPr>
          <p:nvPr/>
        </p:nvSpPr>
        <p:spPr>
          <a:xfrm>
            <a:off x="9182100" y="1924050"/>
            <a:ext cx="1638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A65F3B"/>
                </a:solidFill>
                <a:latin typeface="Aptos"/>
                <a:ea typeface="Aptos"/>
                <a:cs typeface="Aptos"/>
              </a:defRPr>
            </a:pPr>
            <a:r>
              <a:rPr lang="en-US" sz="825" b="1" noProof="0" dirty="0">
                <a:solidFill>
                  <a:srgbClr val="A65F3B"/>
                </a:solidFill>
                <a:latin typeface="Aptos"/>
                <a:ea typeface="Aptos"/>
                <a:cs typeface="Aptos"/>
              </a:rPr>
              <a:t>cost objective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9EE3F7-474D-4D30-9F6E-22D6F10749B2}"/>
              </a:ext>
            </a:extLst>
          </p:cNvPr>
          <p:cNvSpPr>
            <a:spLocks noGrp="1"/>
          </p:cNvSpPr>
          <p:nvPr/>
        </p:nvSpPr>
        <p:spPr>
          <a:xfrm>
            <a:off x="9105900" y="2286000"/>
            <a:ext cx="1790700" cy="285750"/>
          </a:xfrm>
          <a:prstGeom prst="rect">
            <a:avLst/>
          </a:prstGeom>
          <a:solidFill>
            <a:srgbClr val="DCE6EA"/>
          </a:solidFill>
          <a:ln w="9525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1F80F2-F9E7-456A-B51D-3202599D0F45}"/>
              </a:ext>
            </a:extLst>
          </p:cNvPr>
          <p:cNvSpPr>
            <a:spLocks noGrp="1"/>
          </p:cNvSpPr>
          <p:nvPr/>
        </p:nvSpPr>
        <p:spPr>
          <a:xfrm>
            <a:off x="9182100" y="2352675"/>
            <a:ext cx="1638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1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E2E notebook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B537FA-369A-48C7-8251-D425C0343896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876300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A71C16-2F50-4A36-A086-94CC9487278C}"/>
              </a:ext>
            </a:extLst>
          </p:cNvPr>
          <p:cNvSpPr>
            <a:spLocks noGrp="1"/>
          </p:cNvSpPr>
          <p:nvPr/>
        </p:nvSpPr>
        <p:spPr>
          <a:xfrm>
            <a:off x="666750" y="6362700"/>
            <a:ext cx="800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Sources: optimex repository, economic optimization docs, roadmap, tests, </a:t>
            </a:r>
            <a:r>
              <a:rPr lang="en-US" sz="75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methanol_and_iron_cost</a:t>
            </a: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 notebook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71F8B0-9C7F-4C94-B2EE-05B94FCF1981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442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0285700-C25B-43BD-A3AD-4C32989947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F7F048CE-8FB5-43E5-8C6A-7259AABDC15B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8C280F9-8453-4345-B31F-52B338222797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SHORT RECAP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89B5E7-314F-4A74-A8A6-9DAE999BA4D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Modeling choices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D6B18-A96F-451D-A9A8-2D2F902B20A5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16AF40-9469-43AB-B8C1-F873C9A89A86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Sources: docs/content/economic_optimization.md; economics_implementation_roadmap.md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600332-A4BE-4C3D-8D23-117D2B9C3C69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88DC55-6F25-42DE-86E0-207C1FFBB3EE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105150" cy="2381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E4A03-A161-45F3-8AD7-FCEC02F93A26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47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65F3B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A65F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CECB3-B173-4EB6-B448-4477C91698E7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6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Cost boundary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03536D-951B-436E-9C82-816DA2BB87EB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2571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Prices apply only to direct </a:t>
            </a:r>
            <a:r>
              <a:rPr lang="en-US" sz="13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first-level background</a:t>
            </a: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purchases required by the foreground system.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14391-ACEC-4AD7-BD5B-4937251E8F16}"/>
              </a:ext>
            </a:extLst>
          </p:cNvPr>
          <p:cNvSpPr>
            <a:spLocks noGrp="1"/>
          </p:cNvSpPr>
          <p:nvPr/>
        </p:nvSpPr>
        <p:spPr>
          <a:xfrm>
            <a:off x="4305300" y="2076450"/>
            <a:ext cx="3105150" cy="2381250"/>
          </a:xfrm>
          <a:prstGeom prst="rect">
            <a:avLst/>
          </a:prstGeom>
          <a:solidFill>
            <a:srgbClr val="DDE7D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AAD5E0-D8E0-4A50-9B81-AD2BC4DE9F4F}"/>
              </a:ext>
            </a:extLst>
          </p:cNvPr>
          <p:cNvSpPr>
            <a:spLocks noGrp="1"/>
          </p:cNvSpPr>
          <p:nvPr/>
        </p:nvSpPr>
        <p:spPr>
          <a:xfrm>
            <a:off x="4514850" y="2247900"/>
            <a:ext cx="47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1F274-1921-4573-A2CD-B3E35B2D7AC5}"/>
              </a:ext>
            </a:extLst>
          </p:cNvPr>
          <p:cNvSpPr>
            <a:spLocks noGrp="1"/>
          </p:cNvSpPr>
          <p:nvPr/>
        </p:nvSpPr>
        <p:spPr>
          <a:xfrm>
            <a:off x="4514850" y="2647950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650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Background node attributes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AC4CD8-D04C-44FA-AE1F-51EB2EA408B0}"/>
              </a:ext>
            </a:extLst>
          </p:cNvPr>
          <p:cNvSpPr>
            <a:spLocks noGrp="1"/>
          </p:cNvSpPr>
          <p:nvPr/>
        </p:nvSpPr>
        <p:spPr>
          <a:xfrm>
            <a:off x="4514850" y="3143250"/>
            <a:ext cx="2571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350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market_price</a:t>
            </a: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is </a:t>
            </a:r>
            <a:r>
              <a:rPr lang="en-US" sz="13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stored</a:t>
            </a: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on the corresponding </a:t>
            </a:r>
            <a:r>
              <a:rPr lang="en-US" sz="13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background</a:t>
            </a: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3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node</a:t>
            </a: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in each time-specific database.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20C361-3709-4CFA-8558-722D21AC406B}"/>
              </a:ext>
            </a:extLst>
          </p:cNvPr>
          <p:cNvSpPr>
            <a:spLocks noGrp="1"/>
          </p:cNvSpPr>
          <p:nvPr/>
        </p:nvSpPr>
        <p:spPr>
          <a:xfrm>
            <a:off x="7943850" y="2076450"/>
            <a:ext cx="3105150" cy="2381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9B7AC1-688C-4C82-96B6-C691C11D125E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47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65F3B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A65F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10CC84-930F-4F11-8B02-92ECAE82A1CC}"/>
              </a:ext>
            </a:extLst>
          </p:cNvPr>
          <p:cNvSpPr>
            <a:spLocks noGrp="1"/>
          </p:cNvSpPr>
          <p:nvPr/>
        </p:nvSpPr>
        <p:spPr>
          <a:xfrm>
            <a:off x="8153400" y="2647950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6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CAPEX/OPEX split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FA077F-9410-483D-9E5E-DBBCCD7282C9}"/>
              </a:ext>
            </a:extLst>
          </p:cNvPr>
          <p:cNvSpPr>
            <a:spLocks noGrp="1"/>
          </p:cNvSpPr>
          <p:nvPr/>
        </p:nvSpPr>
        <p:spPr>
          <a:xfrm>
            <a:off x="8153400" y="3143250"/>
            <a:ext cx="2571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operation=True contributes to </a:t>
            </a:r>
            <a:r>
              <a:rPr lang="en-US" sz="13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operation-related</a:t>
            </a: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costs; otherwise to </a:t>
            </a:r>
            <a:r>
              <a:rPr lang="en-US" sz="13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installation-related</a:t>
            </a: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costs.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7EFDAE-7F5E-4E30-86BD-61B528610C0C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66675" cy="66675"/>
          </a:xfrm>
          <a:prstGeom prst="rect">
            <a:avLst/>
          </a:prstGeom>
          <a:solidFill>
            <a:srgbClr val="A65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05226D-17E5-4911-A814-E72879C9284E}"/>
              </a:ext>
            </a:extLst>
          </p:cNvPr>
          <p:cNvSpPr>
            <a:spLocks noGrp="1"/>
          </p:cNvSpPr>
          <p:nvPr/>
        </p:nvSpPr>
        <p:spPr>
          <a:xfrm>
            <a:off x="1104900" y="4953000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20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No pricing of internal foreground products.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00C085-F488-4428-B066-3A7F0E49139C}"/>
              </a:ext>
            </a:extLst>
          </p:cNvPr>
          <p:cNvSpPr>
            <a:spLocks noGrp="1"/>
          </p:cNvSpPr>
          <p:nvPr/>
        </p:nvSpPr>
        <p:spPr>
          <a:xfrm>
            <a:off x="914400" y="5353050"/>
            <a:ext cx="66675" cy="66675"/>
          </a:xfrm>
          <a:prstGeom prst="rect">
            <a:avLst/>
          </a:prstGeom>
          <a:solidFill>
            <a:srgbClr val="A65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4AE9B8-598C-4F97-9CEF-286A31179D65}"/>
              </a:ext>
            </a:extLst>
          </p:cNvPr>
          <p:cNvSpPr>
            <a:spLocks noGrp="1"/>
          </p:cNvSpPr>
          <p:nvPr/>
        </p:nvSpPr>
        <p:spPr>
          <a:xfrm>
            <a:off x="1104900" y="5276850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20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No recursive economic valuation inside background inventories.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9FD70B-8F79-4EB1-9BF5-C2570C217381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66675" cy="66675"/>
          </a:xfrm>
          <a:prstGeom prst="rect">
            <a:avLst/>
          </a:prstGeom>
          <a:solidFill>
            <a:srgbClr val="A65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C00806-84EB-46F0-8089-3D72BEAA8A5D}"/>
              </a:ext>
            </a:extLst>
          </p:cNvPr>
          <p:cNvSpPr>
            <a:spLocks noGrp="1"/>
          </p:cNvSpPr>
          <p:nvPr/>
        </p:nvSpPr>
        <p:spPr>
          <a:xfrm>
            <a:off x="1104900" y="5600700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20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CAP/OPEX-like separation is an accounting/reporting structure, not a different physical price.</a:t>
            </a:r>
          </a:p>
        </p:txBody>
      </p:sp>
    </p:spTree>
    <p:extLst>
      <p:ext uri="{BB962C8B-B14F-4D97-AF65-F5344CB8AC3E}">
        <p14:creationId xmlns:p14="http://schemas.microsoft.com/office/powerpoint/2010/main" val="3201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FB61BD2-1186-4D85-B519-689D27BCAF01}"/>
              </a:ext>
            </a:extLst>
          </p:cNvPr>
          <p:cNvSpPr>
            <a:spLocks noGrp="1"/>
          </p:cNvSpPr>
          <p:nvPr/>
        </p:nvSpPr>
        <p:spPr>
          <a:xfrm>
            <a:off x="0" y="-10633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E7158FC-A276-4960-B1C0-EE0169C8992B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D3163A0-BD0D-4523-A306-2B91B783F7D8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IMPLEMENTED SINCE LAST MEETING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8A0D5C-6D24-4F83-8256-F5A548C70D3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The economic extension now runs through the optimex data path.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794094-02C5-4496-A4B5-3F9C04B2ED1C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908F02-5821-462A-AC5E-560FC2D85C1B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Sources: economics.py; lca_processor.py; converter.py; optimizer.py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E81761-DF99-4579-A561-F4B54ECD1A81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A63EF-966F-4AF1-ABCE-0E24E045F030}"/>
              </a:ext>
            </a:extLst>
          </p:cNvPr>
          <p:cNvSpPr>
            <a:spLocks noGrp="1"/>
          </p:cNvSpPr>
          <p:nvPr/>
        </p:nvSpPr>
        <p:spPr>
          <a:xfrm>
            <a:off x="533400" y="2333625"/>
            <a:ext cx="1809750" cy="12954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5315C-9420-4CE5-AEA7-50409A74884A}"/>
              </a:ext>
            </a:extLst>
          </p:cNvPr>
          <p:cNvSpPr>
            <a:spLocks noGrp="1"/>
          </p:cNvSpPr>
          <p:nvPr/>
        </p:nvSpPr>
        <p:spPr>
          <a:xfrm>
            <a:off x="533400" y="2333625"/>
            <a:ext cx="57150" cy="129540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CB172B-C61A-446D-8A66-8495AC6F6434}"/>
              </a:ext>
            </a:extLst>
          </p:cNvPr>
          <p:cNvSpPr>
            <a:spLocks noGrp="1"/>
          </p:cNvSpPr>
          <p:nvPr/>
        </p:nvSpPr>
        <p:spPr>
          <a:xfrm>
            <a:off x="704850" y="24669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Brightway</a:t>
            </a:r>
            <a:r>
              <a:rPr lang="en-US" sz="120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price 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066D57-EF40-452F-B11F-08F5F109B32D}"/>
              </a:ext>
            </a:extLst>
          </p:cNvPr>
          <p:cNvSpPr>
            <a:spLocks noGrp="1"/>
          </p:cNvSpPr>
          <p:nvPr/>
        </p:nvSpPr>
        <p:spPr>
          <a:xfrm>
            <a:off x="704850" y="2743200"/>
            <a:ext cx="152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0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set_market_prices writes </a:t>
            </a:r>
            <a:r>
              <a:rPr lang="en-US" sz="100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market_price</a:t>
            </a:r>
            <a:r>
              <a:rPr lang="en-US" sz="10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 to background nodes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E206E3-453B-4CB6-A732-915029DCED31}"/>
              </a:ext>
            </a:extLst>
          </p:cNvPr>
          <p:cNvSpPr>
            <a:spLocks noGrp="1"/>
          </p:cNvSpPr>
          <p:nvPr/>
        </p:nvSpPr>
        <p:spPr>
          <a:xfrm>
            <a:off x="2400300" y="28194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98DC55-596C-407A-9DD3-285BB9C5DEFC}"/>
              </a:ext>
            </a:extLst>
          </p:cNvPr>
          <p:cNvSpPr>
            <a:spLocks noGrp="1"/>
          </p:cNvSpPr>
          <p:nvPr/>
        </p:nvSpPr>
        <p:spPr>
          <a:xfrm>
            <a:off x="2781300" y="2333625"/>
            <a:ext cx="1809750" cy="1295400"/>
          </a:xfrm>
          <a:prstGeom prst="rect">
            <a:avLst/>
          </a:prstGeom>
          <a:solidFill>
            <a:srgbClr val="DDE7D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AA41C-4974-4AB2-8B0A-DC48790024B9}"/>
              </a:ext>
            </a:extLst>
          </p:cNvPr>
          <p:cNvSpPr>
            <a:spLocks noGrp="1"/>
          </p:cNvSpPr>
          <p:nvPr/>
        </p:nvSpPr>
        <p:spPr>
          <a:xfrm>
            <a:off x="2781300" y="2333625"/>
            <a:ext cx="57150" cy="129540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73E369-76BD-4EA8-8A2E-17C911100E23}"/>
              </a:ext>
            </a:extLst>
          </p:cNvPr>
          <p:cNvSpPr>
            <a:spLocks noGrp="1"/>
          </p:cNvSpPr>
          <p:nvPr/>
        </p:nvSpPr>
        <p:spPr>
          <a:xfrm>
            <a:off x="2952750" y="24669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LCADataProcessor</a:t>
            </a:r>
            <a:endParaRPr lang="en-US" sz="1200" b="1" noProof="0" dirty="0">
              <a:solidFill>
                <a:srgbClr val="18222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A53F22-EB02-4E4A-ACFD-0F5548124E20}"/>
              </a:ext>
            </a:extLst>
          </p:cNvPr>
          <p:cNvSpPr>
            <a:spLocks noGrp="1"/>
          </p:cNvSpPr>
          <p:nvPr/>
        </p:nvSpPr>
        <p:spPr>
          <a:xfrm>
            <a:off x="2952750" y="2743200"/>
            <a:ext cx="1638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0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detects cost-relevant flows, reads prices, distinguishes cap/op, interpolates to SYSTEM_TIME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064261-47C7-4956-A234-778AD9D87F57}"/>
              </a:ext>
            </a:extLst>
          </p:cNvPr>
          <p:cNvSpPr>
            <a:spLocks noGrp="1"/>
          </p:cNvSpPr>
          <p:nvPr/>
        </p:nvSpPr>
        <p:spPr>
          <a:xfrm>
            <a:off x="4648200" y="28194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B5F8E5-0821-4B75-8438-C872B4F982D4}"/>
              </a:ext>
            </a:extLst>
          </p:cNvPr>
          <p:cNvSpPr>
            <a:spLocks noGrp="1"/>
          </p:cNvSpPr>
          <p:nvPr/>
        </p:nvSpPr>
        <p:spPr>
          <a:xfrm>
            <a:off x="5029200" y="2333625"/>
            <a:ext cx="1809750" cy="12954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2AA67-333A-4456-92DF-2DEA484D45B1}"/>
              </a:ext>
            </a:extLst>
          </p:cNvPr>
          <p:cNvSpPr>
            <a:spLocks noGrp="1"/>
          </p:cNvSpPr>
          <p:nvPr/>
        </p:nvSpPr>
        <p:spPr>
          <a:xfrm>
            <a:off x="5029200" y="2333625"/>
            <a:ext cx="57150" cy="129540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753E90-C9AA-4856-A56F-7A6D3550474B}"/>
              </a:ext>
            </a:extLst>
          </p:cNvPr>
          <p:cNvSpPr>
            <a:spLocks noGrp="1"/>
          </p:cNvSpPr>
          <p:nvPr/>
        </p:nvSpPr>
        <p:spPr>
          <a:xfrm>
            <a:off x="5200650" y="24669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Model inputs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AA6396-F395-4738-9529-B8A84D85EDDA}"/>
              </a:ext>
            </a:extLst>
          </p:cNvPr>
          <p:cNvSpPr>
            <a:spLocks noGrp="1"/>
          </p:cNvSpPr>
          <p:nvPr/>
        </p:nvSpPr>
        <p:spPr>
          <a:xfrm>
            <a:off x="5200650" y="2743200"/>
            <a:ext cx="152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00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OptimizationModelInputs</a:t>
            </a:r>
            <a:r>
              <a:rPr lang="en-US" sz="10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 stores cap/op prices plus discount settings, creates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A4D39-5CFF-4EF0-B329-13A0BBDBD9ED}"/>
              </a:ext>
            </a:extLst>
          </p:cNvPr>
          <p:cNvSpPr>
            <a:spLocks noGrp="1"/>
          </p:cNvSpPr>
          <p:nvPr/>
        </p:nvSpPr>
        <p:spPr>
          <a:xfrm>
            <a:off x="6896100" y="28194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F40DC4-C224-4BA5-98D7-10F9CCBD4A21}"/>
              </a:ext>
            </a:extLst>
          </p:cNvPr>
          <p:cNvSpPr>
            <a:spLocks noGrp="1"/>
          </p:cNvSpPr>
          <p:nvPr/>
        </p:nvSpPr>
        <p:spPr>
          <a:xfrm>
            <a:off x="7277100" y="2333625"/>
            <a:ext cx="1809750" cy="1295400"/>
          </a:xfrm>
          <a:prstGeom prst="rect">
            <a:avLst/>
          </a:prstGeom>
          <a:solidFill>
            <a:srgbClr val="DDE7D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6E59DA-5C1E-48F1-ACC2-7F101E3D4740}"/>
              </a:ext>
            </a:extLst>
          </p:cNvPr>
          <p:cNvSpPr>
            <a:spLocks noGrp="1"/>
          </p:cNvSpPr>
          <p:nvPr/>
        </p:nvSpPr>
        <p:spPr>
          <a:xfrm>
            <a:off x="7277100" y="2333625"/>
            <a:ext cx="57150" cy="129540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B6137F-B882-4894-906E-D1AA2EF8F62F}"/>
              </a:ext>
            </a:extLst>
          </p:cNvPr>
          <p:cNvSpPr>
            <a:spLocks noGrp="1"/>
          </p:cNvSpPr>
          <p:nvPr/>
        </p:nvSpPr>
        <p:spPr>
          <a:xfrm>
            <a:off x="7448550" y="24669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Pyomo</a:t>
            </a:r>
            <a:r>
              <a:rPr lang="en-US" sz="120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model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56AF15-A12E-4DC0-A9B3-B821CB2B7F85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152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0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builds purchase, cost and discount expressions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64A21A-995F-48FC-A7B0-BCD66682EFB8}"/>
              </a:ext>
            </a:extLst>
          </p:cNvPr>
          <p:cNvSpPr>
            <a:spLocks noGrp="1"/>
          </p:cNvSpPr>
          <p:nvPr/>
        </p:nvSpPr>
        <p:spPr>
          <a:xfrm>
            <a:off x="9144000" y="28194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F6C54E-F1AE-4D3B-919D-6A4AA39F546D}"/>
              </a:ext>
            </a:extLst>
          </p:cNvPr>
          <p:cNvSpPr>
            <a:spLocks noGrp="1"/>
          </p:cNvSpPr>
          <p:nvPr/>
        </p:nvSpPr>
        <p:spPr>
          <a:xfrm>
            <a:off x="9525000" y="2333625"/>
            <a:ext cx="1809750" cy="12954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701B78-4A93-456A-B6FE-D14938091E38}"/>
              </a:ext>
            </a:extLst>
          </p:cNvPr>
          <p:cNvSpPr>
            <a:spLocks noGrp="1"/>
          </p:cNvSpPr>
          <p:nvPr/>
        </p:nvSpPr>
        <p:spPr>
          <a:xfrm>
            <a:off x="9525000" y="2333625"/>
            <a:ext cx="57150" cy="1295400"/>
          </a:xfrm>
          <a:prstGeom prst="rect">
            <a:avLst/>
          </a:prstGeom>
          <a:solidFill>
            <a:srgbClr val="A65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9170C2-126A-4252-A268-47428672EA15}"/>
              </a:ext>
            </a:extLst>
          </p:cNvPr>
          <p:cNvSpPr>
            <a:spLocks noGrp="1"/>
          </p:cNvSpPr>
          <p:nvPr/>
        </p:nvSpPr>
        <p:spPr>
          <a:xfrm>
            <a:off x="9696450" y="24669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solve_model</a:t>
            </a:r>
            <a:endParaRPr lang="en-US" sz="1200" b="1" noProof="0" dirty="0">
              <a:solidFill>
                <a:srgbClr val="18222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B3E464-6421-42D8-A476-EC74E49D05BD}"/>
              </a:ext>
            </a:extLst>
          </p:cNvPr>
          <p:cNvSpPr>
            <a:spLocks noGrp="1"/>
          </p:cNvSpPr>
          <p:nvPr/>
        </p:nvSpPr>
        <p:spPr>
          <a:xfrm>
            <a:off x="9696450" y="2743200"/>
            <a:ext cx="152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0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returns cost objective in real monetary units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159278-F630-4930-ADA4-2902CB88AD14}"/>
              </a:ext>
            </a:extLst>
          </p:cNvPr>
          <p:cNvSpPr>
            <a:spLocks noGrp="1"/>
          </p:cNvSpPr>
          <p:nvPr/>
        </p:nvSpPr>
        <p:spPr>
          <a:xfrm>
            <a:off x="1200150" y="4381500"/>
            <a:ext cx="2545842" cy="41910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6196D5-AA95-4209-8DBF-B0F219C0F527}"/>
              </a:ext>
            </a:extLst>
          </p:cNvPr>
          <p:cNvSpPr>
            <a:spLocks noGrp="1"/>
          </p:cNvSpPr>
          <p:nvPr/>
        </p:nvSpPr>
        <p:spPr>
          <a:xfrm>
            <a:off x="1333500" y="4495800"/>
            <a:ext cx="227914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179F67-E77C-424A-A8BC-3E8A088D67A1}"/>
              </a:ext>
            </a:extLst>
          </p:cNvPr>
          <p:cNvSpPr>
            <a:spLocks noGrp="1"/>
          </p:cNvSpPr>
          <p:nvPr/>
        </p:nvSpPr>
        <p:spPr>
          <a:xfrm>
            <a:off x="3745992" y="4381500"/>
            <a:ext cx="5091684" cy="41910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26D053-E1CF-4657-8BD5-574DC357917E}"/>
              </a:ext>
            </a:extLst>
          </p:cNvPr>
          <p:cNvSpPr>
            <a:spLocks noGrp="1"/>
          </p:cNvSpPr>
          <p:nvPr/>
        </p:nvSpPr>
        <p:spPr>
          <a:xfrm>
            <a:off x="3879342" y="4495800"/>
            <a:ext cx="482498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Implemented change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60A65F-3CBE-4A64-AA03-9FD8B7539134}"/>
              </a:ext>
            </a:extLst>
          </p:cNvPr>
          <p:cNvSpPr>
            <a:spLocks noGrp="1"/>
          </p:cNvSpPr>
          <p:nvPr/>
        </p:nvSpPr>
        <p:spPr>
          <a:xfrm>
            <a:off x="8837676" y="4381500"/>
            <a:ext cx="2154174" cy="41910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9D051A-9EBA-4B1E-B45E-486AE74C1480}"/>
              </a:ext>
            </a:extLst>
          </p:cNvPr>
          <p:cNvSpPr>
            <a:spLocks noGrp="1"/>
          </p:cNvSpPr>
          <p:nvPr/>
        </p:nvSpPr>
        <p:spPr>
          <a:xfrm>
            <a:off x="8971026" y="4495800"/>
            <a:ext cx="188747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AB3A78-0B8E-4C63-9ACF-3CE05898E464}"/>
              </a:ext>
            </a:extLst>
          </p:cNvPr>
          <p:cNvSpPr>
            <a:spLocks noGrp="1"/>
          </p:cNvSpPr>
          <p:nvPr/>
        </p:nvSpPr>
        <p:spPr>
          <a:xfrm>
            <a:off x="1200150" y="4800600"/>
            <a:ext cx="2545842" cy="4191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BF81ECB-8084-4B14-B7EE-DD5F3DE32F1C}"/>
              </a:ext>
            </a:extLst>
          </p:cNvPr>
          <p:cNvSpPr>
            <a:spLocks noGrp="1"/>
          </p:cNvSpPr>
          <p:nvPr/>
        </p:nvSpPr>
        <p:spPr>
          <a:xfrm>
            <a:off x="1333500" y="4895850"/>
            <a:ext cx="227914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Economics helper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B09C29-1C82-4CF1-B611-064E8EA11843}"/>
              </a:ext>
            </a:extLst>
          </p:cNvPr>
          <p:cNvSpPr>
            <a:spLocks noGrp="1"/>
          </p:cNvSpPr>
          <p:nvPr/>
        </p:nvSpPr>
        <p:spPr>
          <a:xfrm>
            <a:off x="3745992" y="4800600"/>
            <a:ext cx="5091684" cy="4191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D23E256-F89A-4E9F-8CA5-498F925074C9}"/>
              </a:ext>
            </a:extLst>
          </p:cNvPr>
          <p:cNvSpPr>
            <a:spLocks noGrp="1"/>
          </p:cNvSpPr>
          <p:nvPr/>
        </p:nvSpPr>
        <p:spPr>
          <a:xfrm>
            <a:off x="3879342" y="4895850"/>
            <a:ext cx="482498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Node-based market price writer `set_market_prices`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FB7A86-56CB-429D-8A58-3B416CF85B54}"/>
              </a:ext>
            </a:extLst>
          </p:cNvPr>
          <p:cNvSpPr>
            <a:spLocks noGrp="1"/>
          </p:cNvSpPr>
          <p:nvPr/>
        </p:nvSpPr>
        <p:spPr>
          <a:xfrm>
            <a:off x="8837676" y="4800600"/>
            <a:ext cx="2154174" cy="4191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8FB3B9-86D0-4A5B-B4BA-F7CABFCC576A}"/>
              </a:ext>
            </a:extLst>
          </p:cNvPr>
          <p:cNvSpPr>
            <a:spLocks noGrp="1"/>
          </p:cNvSpPr>
          <p:nvPr/>
        </p:nvSpPr>
        <p:spPr>
          <a:xfrm>
            <a:off x="8971026" y="4895850"/>
            <a:ext cx="188747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F8C2EED-F1A0-4923-B46C-C3FC1D4174AD}"/>
              </a:ext>
            </a:extLst>
          </p:cNvPr>
          <p:cNvSpPr>
            <a:spLocks noGrp="1"/>
          </p:cNvSpPr>
          <p:nvPr/>
        </p:nvSpPr>
        <p:spPr>
          <a:xfrm>
            <a:off x="1200150" y="5219700"/>
            <a:ext cx="2545842" cy="41910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AC14C2-90E7-4A89-BD0E-80772D5241E0}"/>
              </a:ext>
            </a:extLst>
          </p:cNvPr>
          <p:cNvSpPr>
            <a:spLocks noGrp="1"/>
          </p:cNvSpPr>
          <p:nvPr/>
        </p:nvSpPr>
        <p:spPr>
          <a:xfrm>
            <a:off x="1333500" y="5314950"/>
            <a:ext cx="227914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Processor + converter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D3D53F-FD5F-4F82-9BE7-A27E1801D116}"/>
              </a:ext>
            </a:extLst>
          </p:cNvPr>
          <p:cNvSpPr>
            <a:spLocks noGrp="1"/>
          </p:cNvSpPr>
          <p:nvPr/>
        </p:nvSpPr>
        <p:spPr>
          <a:xfrm>
            <a:off x="3745992" y="5219700"/>
            <a:ext cx="5091684" cy="41910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1303B9-F4BD-42F0-B848-1A40B0328DC8}"/>
              </a:ext>
            </a:extLst>
          </p:cNvPr>
          <p:cNvSpPr>
            <a:spLocks noGrp="1"/>
          </p:cNvSpPr>
          <p:nvPr/>
        </p:nvSpPr>
        <p:spPr>
          <a:xfrm>
            <a:off x="3879342" y="5314950"/>
            <a:ext cx="482498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Cost vectors move into model inputs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D954A2-A622-4436-B807-6C53AA61557D}"/>
              </a:ext>
            </a:extLst>
          </p:cNvPr>
          <p:cNvSpPr>
            <a:spLocks noGrp="1"/>
          </p:cNvSpPr>
          <p:nvPr/>
        </p:nvSpPr>
        <p:spPr>
          <a:xfrm>
            <a:off x="8837676" y="5219700"/>
            <a:ext cx="2154174" cy="41910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088AAA-0979-4D40-AD8B-7119266BDBF6}"/>
              </a:ext>
            </a:extLst>
          </p:cNvPr>
          <p:cNvSpPr>
            <a:spLocks noGrp="1"/>
          </p:cNvSpPr>
          <p:nvPr/>
        </p:nvSpPr>
        <p:spPr>
          <a:xfrm>
            <a:off x="8971026" y="5314950"/>
            <a:ext cx="188747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221B89-5DC4-4C68-99A4-DA63603A2F32}"/>
              </a:ext>
            </a:extLst>
          </p:cNvPr>
          <p:cNvSpPr>
            <a:spLocks noGrp="1"/>
          </p:cNvSpPr>
          <p:nvPr/>
        </p:nvSpPr>
        <p:spPr>
          <a:xfrm>
            <a:off x="1200150" y="5638800"/>
            <a:ext cx="2545842" cy="4191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D841F2A-3740-4D64-B7A8-E29042FCFE75}"/>
              </a:ext>
            </a:extLst>
          </p:cNvPr>
          <p:cNvSpPr>
            <a:spLocks noGrp="1"/>
          </p:cNvSpPr>
          <p:nvPr/>
        </p:nvSpPr>
        <p:spPr>
          <a:xfrm>
            <a:off x="1333500" y="5734050"/>
            <a:ext cx="227914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Optimizer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2A469A-22DB-4FE0-A2A0-4E9408C8CA82}"/>
              </a:ext>
            </a:extLst>
          </p:cNvPr>
          <p:cNvSpPr>
            <a:spLocks noGrp="1"/>
          </p:cNvSpPr>
          <p:nvPr/>
        </p:nvSpPr>
        <p:spPr>
          <a:xfrm>
            <a:off x="3745992" y="5638800"/>
            <a:ext cx="5091684" cy="4191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A6C8A2-5D8A-4320-8A48-A619B89C4DE6}"/>
              </a:ext>
            </a:extLst>
          </p:cNvPr>
          <p:cNvSpPr>
            <a:spLocks noGrp="1"/>
          </p:cNvSpPr>
          <p:nvPr/>
        </p:nvSpPr>
        <p:spPr>
          <a:xfrm>
            <a:off x="3879342" y="5734050"/>
            <a:ext cx="482498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objective="cost" beside environmental default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5932923-4305-45B2-AD2F-90435B2B035B}"/>
              </a:ext>
            </a:extLst>
          </p:cNvPr>
          <p:cNvSpPr>
            <a:spLocks noGrp="1"/>
          </p:cNvSpPr>
          <p:nvPr/>
        </p:nvSpPr>
        <p:spPr>
          <a:xfrm>
            <a:off x="8837676" y="5638800"/>
            <a:ext cx="2154174" cy="4191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B12CE7-C07E-4CCD-9E78-BE1EB2386BD2}"/>
              </a:ext>
            </a:extLst>
          </p:cNvPr>
          <p:cNvSpPr>
            <a:spLocks noGrp="1"/>
          </p:cNvSpPr>
          <p:nvPr/>
        </p:nvSpPr>
        <p:spPr>
          <a:xfrm>
            <a:off x="8971026" y="5734050"/>
            <a:ext cx="188747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</p:spTree>
    <p:extLst>
      <p:ext uri="{BB962C8B-B14F-4D97-AF65-F5344CB8AC3E}">
        <p14:creationId xmlns:p14="http://schemas.microsoft.com/office/powerpoint/2010/main" val="80336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1C70CD5E-6D8D-40DC-84F7-52675F5635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A7FD8B3A-3C38-4F51-A873-6CC5828802A8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F2C0FABA-8383-4392-B1D2-FCB0DE5EF5F8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6B194-49CA-4112-BCF8-C1925835D807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Price user input via set_market_prices helper function.</a:t>
            </a:r>
            <a:b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</a:br>
            <a:r>
              <a:rPr lang="en-US" sz="2000" b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ptos Display"/>
                <a:ea typeface="Aptos Display"/>
                <a:cs typeface="Aptos Display"/>
              </a:rPr>
              <a:t>writes time-specific prices on background nodes</a:t>
            </a:r>
            <a:endParaRPr lang="en-US" sz="2550" b="1" noProof="0" dirty="0">
              <a:solidFill>
                <a:schemeClr val="tx1">
                  <a:lumMod val="50000"/>
                  <a:lumOff val="50000"/>
                </a:schemeClr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05DB6-0D57-4B95-8780-5BC532B0A5B5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C95DE7-9EA7-4D0E-BB92-1F0E7FB86203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Sources: </a:t>
            </a:r>
            <a:r>
              <a:rPr lang="en-US" sz="75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src</a:t>
            </a: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/optimex/economics.py; docs/content/economic_optimization.md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CB2C20-7462-492E-921A-B7F8A3EDB48A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4554D5-36A9-4A58-8CE5-DC180A3DD268}"/>
              </a:ext>
            </a:extLst>
          </p:cNvPr>
          <p:cNvSpPr>
            <a:spLocks noGrp="1"/>
          </p:cNvSpPr>
          <p:nvPr/>
        </p:nvSpPr>
        <p:spPr>
          <a:xfrm>
            <a:off x="6062772" y="1841277"/>
            <a:ext cx="1412777" cy="527685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91CE8D-A258-4C79-922E-67E71CA0E507}"/>
              </a:ext>
            </a:extLst>
          </p:cNvPr>
          <p:cNvSpPr>
            <a:spLocks noGrp="1"/>
          </p:cNvSpPr>
          <p:nvPr/>
        </p:nvSpPr>
        <p:spPr>
          <a:xfrm>
            <a:off x="6196122" y="1955578"/>
            <a:ext cx="1216558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Input field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61E96-A8F2-4C91-A1DE-A8453C86EC4D}"/>
              </a:ext>
            </a:extLst>
          </p:cNvPr>
          <p:cNvSpPr>
            <a:spLocks noGrp="1"/>
          </p:cNvSpPr>
          <p:nvPr/>
        </p:nvSpPr>
        <p:spPr>
          <a:xfrm>
            <a:off x="7525814" y="1841277"/>
            <a:ext cx="2522816" cy="527685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2C47A7-EF6B-411C-8E06-AEE0D698A8C0}"/>
              </a:ext>
            </a:extLst>
          </p:cNvPr>
          <p:cNvSpPr>
            <a:spLocks noGrp="1"/>
          </p:cNvSpPr>
          <p:nvPr/>
        </p:nvSpPr>
        <p:spPr>
          <a:xfrm>
            <a:off x="7659164" y="1955578"/>
            <a:ext cx="2326597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38BB07-F2C4-4621-A613-E49D1E39D995}"/>
              </a:ext>
            </a:extLst>
          </p:cNvPr>
          <p:cNvSpPr>
            <a:spLocks noGrp="1"/>
          </p:cNvSpPr>
          <p:nvPr/>
        </p:nvSpPr>
        <p:spPr>
          <a:xfrm>
            <a:off x="10093574" y="1841277"/>
            <a:ext cx="1110039" cy="527685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079A7D-3F78-4D46-B3BB-1C06190CBC93}"/>
              </a:ext>
            </a:extLst>
          </p:cNvPr>
          <p:cNvSpPr>
            <a:spLocks noGrp="1"/>
          </p:cNvSpPr>
          <p:nvPr/>
        </p:nvSpPr>
        <p:spPr>
          <a:xfrm>
            <a:off x="10226924" y="1955578"/>
            <a:ext cx="913820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71C9F3-579A-478E-BEEE-6A2572C8687D}"/>
              </a:ext>
            </a:extLst>
          </p:cNvPr>
          <p:cNvSpPr>
            <a:spLocks noGrp="1"/>
          </p:cNvSpPr>
          <p:nvPr/>
        </p:nvSpPr>
        <p:spPr>
          <a:xfrm>
            <a:off x="6062772" y="2317527"/>
            <a:ext cx="1412777" cy="52768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59F2FD-F73C-4DA2-BFF8-D99AF4A6380D}"/>
              </a:ext>
            </a:extLst>
          </p:cNvPr>
          <p:cNvSpPr>
            <a:spLocks noGrp="1"/>
          </p:cNvSpPr>
          <p:nvPr/>
        </p:nvSpPr>
        <p:spPr>
          <a:xfrm>
            <a:off x="6196122" y="2412778"/>
            <a:ext cx="1216558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16C780-177E-46F1-8E25-2CD9C389B190}"/>
              </a:ext>
            </a:extLst>
          </p:cNvPr>
          <p:cNvSpPr>
            <a:spLocks noGrp="1"/>
          </p:cNvSpPr>
          <p:nvPr/>
        </p:nvSpPr>
        <p:spPr>
          <a:xfrm>
            <a:off x="7525814" y="2317527"/>
            <a:ext cx="2522816" cy="52768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B19FCF-08F0-4F3D-9A0A-0F78C936E2A4}"/>
              </a:ext>
            </a:extLst>
          </p:cNvPr>
          <p:cNvSpPr>
            <a:spLocks noGrp="1"/>
          </p:cNvSpPr>
          <p:nvPr/>
        </p:nvSpPr>
        <p:spPr>
          <a:xfrm>
            <a:off x="7659164" y="2412778"/>
            <a:ext cx="2326597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Brightway</a:t>
            </a: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activity/process name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5F3693-5C86-4EE2-9AFD-7B5588044A3E}"/>
              </a:ext>
            </a:extLst>
          </p:cNvPr>
          <p:cNvSpPr>
            <a:spLocks noGrp="1"/>
          </p:cNvSpPr>
          <p:nvPr/>
        </p:nvSpPr>
        <p:spPr>
          <a:xfrm>
            <a:off x="10093574" y="2317527"/>
            <a:ext cx="1110039" cy="52768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90B5CC-6945-4851-975D-6E6AB4A2DA44}"/>
              </a:ext>
            </a:extLst>
          </p:cNvPr>
          <p:cNvSpPr>
            <a:spLocks noGrp="1"/>
          </p:cNvSpPr>
          <p:nvPr/>
        </p:nvSpPr>
        <p:spPr>
          <a:xfrm>
            <a:off x="10226924" y="2412778"/>
            <a:ext cx="913820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6612DF-BE41-42E9-A607-97527EB01733}"/>
              </a:ext>
            </a:extLst>
          </p:cNvPr>
          <p:cNvSpPr>
            <a:spLocks noGrp="1"/>
          </p:cNvSpPr>
          <p:nvPr/>
        </p:nvSpPr>
        <p:spPr>
          <a:xfrm>
            <a:off x="6062772" y="2793777"/>
            <a:ext cx="1412777" cy="52768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237E10-97E5-4813-8654-1741ECFC791F}"/>
              </a:ext>
            </a:extLst>
          </p:cNvPr>
          <p:cNvSpPr>
            <a:spLocks noGrp="1"/>
          </p:cNvSpPr>
          <p:nvPr/>
        </p:nvSpPr>
        <p:spPr>
          <a:xfrm>
            <a:off x="6196122" y="2889028"/>
            <a:ext cx="1216558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location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B43FA5-86F0-4FA0-B3CE-FAE82127B69B}"/>
              </a:ext>
            </a:extLst>
          </p:cNvPr>
          <p:cNvSpPr>
            <a:spLocks noGrp="1"/>
          </p:cNvSpPr>
          <p:nvPr/>
        </p:nvSpPr>
        <p:spPr>
          <a:xfrm>
            <a:off x="7525814" y="2793777"/>
            <a:ext cx="2522816" cy="52768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E6B9F7-2E68-4D9A-83D4-DE26DA5F648E}"/>
              </a:ext>
            </a:extLst>
          </p:cNvPr>
          <p:cNvSpPr>
            <a:spLocks noGrp="1"/>
          </p:cNvSpPr>
          <p:nvPr/>
        </p:nvSpPr>
        <p:spPr>
          <a:xfrm>
            <a:off x="7659164" y="2889028"/>
            <a:ext cx="2326597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regional lookup constraint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705779-BCCA-4F02-AC23-2CA50B9C5ADC}"/>
              </a:ext>
            </a:extLst>
          </p:cNvPr>
          <p:cNvSpPr>
            <a:spLocks noGrp="1"/>
          </p:cNvSpPr>
          <p:nvPr/>
        </p:nvSpPr>
        <p:spPr>
          <a:xfrm>
            <a:off x="10093574" y="2793777"/>
            <a:ext cx="1110039" cy="52768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D7AA3D-770B-4FD1-AD77-434520A1BBE8}"/>
              </a:ext>
            </a:extLst>
          </p:cNvPr>
          <p:cNvSpPr>
            <a:spLocks noGrp="1"/>
          </p:cNvSpPr>
          <p:nvPr/>
        </p:nvSpPr>
        <p:spPr>
          <a:xfrm>
            <a:off x="10226924" y="2889028"/>
            <a:ext cx="913820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default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F32795-8D60-454B-8AE8-93D275A4D1D5}"/>
              </a:ext>
            </a:extLst>
          </p:cNvPr>
          <p:cNvSpPr>
            <a:spLocks noGrp="1"/>
          </p:cNvSpPr>
          <p:nvPr/>
        </p:nvSpPr>
        <p:spPr>
          <a:xfrm>
            <a:off x="6062772" y="3270027"/>
            <a:ext cx="1412777" cy="52768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FDB59D-D92A-471D-9F98-599D5D9DD059}"/>
              </a:ext>
            </a:extLst>
          </p:cNvPr>
          <p:cNvSpPr>
            <a:spLocks noGrp="1"/>
          </p:cNvSpPr>
          <p:nvPr/>
        </p:nvSpPr>
        <p:spPr>
          <a:xfrm>
            <a:off x="6196122" y="3365278"/>
            <a:ext cx="1216558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year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FCC962-D060-4960-A08D-A6B25B5EF701}"/>
              </a:ext>
            </a:extLst>
          </p:cNvPr>
          <p:cNvSpPr>
            <a:spLocks noGrp="1"/>
          </p:cNvSpPr>
          <p:nvPr/>
        </p:nvSpPr>
        <p:spPr>
          <a:xfrm>
            <a:off x="7525814" y="3270027"/>
            <a:ext cx="2522816" cy="52768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44DC9-68E7-46C4-A2C1-F218F94F8E10}"/>
              </a:ext>
            </a:extLst>
          </p:cNvPr>
          <p:cNvSpPr>
            <a:spLocks noGrp="1"/>
          </p:cNvSpPr>
          <p:nvPr/>
        </p:nvSpPr>
        <p:spPr>
          <a:xfrm>
            <a:off x="7659164" y="3365278"/>
            <a:ext cx="2326597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selects background database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BB7B8B-9F82-458D-9A2D-6BB892EAD7EA}"/>
              </a:ext>
            </a:extLst>
          </p:cNvPr>
          <p:cNvSpPr>
            <a:spLocks noGrp="1"/>
          </p:cNvSpPr>
          <p:nvPr/>
        </p:nvSpPr>
        <p:spPr>
          <a:xfrm>
            <a:off x="10093574" y="3270027"/>
            <a:ext cx="1110039" cy="52768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828B5-25EA-43FF-8197-523427AA2D27}"/>
              </a:ext>
            </a:extLst>
          </p:cNvPr>
          <p:cNvSpPr>
            <a:spLocks noGrp="1"/>
          </p:cNvSpPr>
          <p:nvPr/>
        </p:nvSpPr>
        <p:spPr>
          <a:xfrm>
            <a:off x="10226924" y="3365278"/>
            <a:ext cx="913820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1A2BD4-187C-4631-9CE0-B078EC0ADA65}"/>
              </a:ext>
            </a:extLst>
          </p:cNvPr>
          <p:cNvSpPr>
            <a:spLocks noGrp="1"/>
          </p:cNvSpPr>
          <p:nvPr/>
        </p:nvSpPr>
        <p:spPr>
          <a:xfrm>
            <a:off x="6062772" y="3746277"/>
            <a:ext cx="1412777" cy="52768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9486BC-C631-4D51-B40C-3446A08C8D03}"/>
              </a:ext>
            </a:extLst>
          </p:cNvPr>
          <p:cNvSpPr>
            <a:spLocks noGrp="1"/>
          </p:cNvSpPr>
          <p:nvPr/>
        </p:nvSpPr>
        <p:spPr>
          <a:xfrm>
            <a:off x="6196122" y="3841528"/>
            <a:ext cx="1216558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price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63C74F-3569-4742-B492-266A6C128300}"/>
              </a:ext>
            </a:extLst>
          </p:cNvPr>
          <p:cNvSpPr>
            <a:spLocks noGrp="1"/>
          </p:cNvSpPr>
          <p:nvPr/>
        </p:nvSpPr>
        <p:spPr>
          <a:xfrm>
            <a:off x="7525814" y="3746277"/>
            <a:ext cx="2522816" cy="52768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F8F41B-A9A1-40F4-B943-47E5175C4421}"/>
              </a:ext>
            </a:extLst>
          </p:cNvPr>
          <p:cNvSpPr>
            <a:spLocks noGrp="1"/>
          </p:cNvSpPr>
          <p:nvPr/>
        </p:nvSpPr>
        <p:spPr>
          <a:xfrm>
            <a:off x="7659164" y="3841528"/>
            <a:ext cx="2326597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value written to node["</a:t>
            </a:r>
            <a:r>
              <a:rPr lang="en-US" sz="1050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market_price</a:t>
            </a: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"]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ABDED3-07D4-4ECA-A802-33A009D9F052}"/>
              </a:ext>
            </a:extLst>
          </p:cNvPr>
          <p:cNvSpPr>
            <a:spLocks noGrp="1"/>
          </p:cNvSpPr>
          <p:nvPr/>
        </p:nvSpPr>
        <p:spPr>
          <a:xfrm>
            <a:off x="10093574" y="3746277"/>
            <a:ext cx="1110039" cy="52768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BF76AE-05F2-4D9A-929C-B39B7361B17F}"/>
              </a:ext>
            </a:extLst>
          </p:cNvPr>
          <p:cNvSpPr>
            <a:spLocks noGrp="1"/>
          </p:cNvSpPr>
          <p:nvPr/>
        </p:nvSpPr>
        <p:spPr>
          <a:xfrm>
            <a:off x="10226924" y="3841528"/>
            <a:ext cx="913820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CB9077-FC0A-42B5-999C-FF7789BBDDEF}"/>
              </a:ext>
            </a:extLst>
          </p:cNvPr>
          <p:cNvSpPr>
            <a:spLocks noGrp="1"/>
          </p:cNvSpPr>
          <p:nvPr/>
        </p:nvSpPr>
        <p:spPr>
          <a:xfrm>
            <a:off x="6062772" y="4222527"/>
            <a:ext cx="1412777" cy="52768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BB0E00-B2F4-4B53-984E-9CD5404991A8}"/>
              </a:ext>
            </a:extLst>
          </p:cNvPr>
          <p:cNvSpPr>
            <a:spLocks noGrp="1"/>
          </p:cNvSpPr>
          <p:nvPr/>
        </p:nvSpPr>
        <p:spPr>
          <a:xfrm>
            <a:off x="6196122" y="4317778"/>
            <a:ext cx="1216558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product, unit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F38F22-21C2-4844-9170-25E60D9E5EBF}"/>
              </a:ext>
            </a:extLst>
          </p:cNvPr>
          <p:cNvSpPr>
            <a:spLocks noGrp="1"/>
          </p:cNvSpPr>
          <p:nvPr/>
        </p:nvSpPr>
        <p:spPr>
          <a:xfrm>
            <a:off x="7525814" y="4222527"/>
            <a:ext cx="2522816" cy="52768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6F1398-3ED8-4C20-82BC-A9F186C6FD3B}"/>
              </a:ext>
            </a:extLst>
          </p:cNvPr>
          <p:cNvSpPr>
            <a:spLocks noGrp="1"/>
          </p:cNvSpPr>
          <p:nvPr/>
        </p:nvSpPr>
        <p:spPr>
          <a:xfrm>
            <a:off x="7659164" y="4317778"/>
            <a:ext cx="2326597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disambiguate same name/location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723A3C7-0FC8-4774-8393-382EB3128FC1}"/>
              </a:ext>
            </a:extLst>
          </p:cNvPr>
          <p:cNvSpPr>
            <a:spLocks noGrp="1"/>
          </p:cNvSpPr>
          <p:nvPr/>
        </p:nvSpPr>
        <p:spPr>
          <a:xfrm>
            <a:off x="10093574" y="4222527"/>
            <a:ext cx="1110039" cy="52768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F24091-FD14-4D6F-85C5-E289783A2430}"/>
              </a:ext>
            </a:extLst>
          </p:cNvPr>
          <p:cNvSpPr>
            <a:spLocks noGrp="1"/>
          </p:cNvSpPr>
          <p:nvPr/>
        </p:nvSpPr>
        <p:spPr>
          <a:xfrm>
            <a:off x="10226924" y="4317778"/>
            <a:ext cx="913820" cy="2743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optional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878DF2-B5E6-4243-921C-DEE8E4B5554D}"/>
              </a:ext>
            </a:extLst>
          </p:cNvPr>
          <p:cNvSpPr>
            <a:spLocks noGrp="1"/>
          </p:cNvSpPr>
          <p:nvPr/>
        </p:nvSpPr>
        <p:spPr>
          <a:xfrm>
            <a:off x="6196121" y="4883641"/>
            <a:ext cx="5007491" cy="1227471"/>
          </a:xfrm>
          <a:prstGeom prst="rect">
            <a:avLst/>
          </a:prstGeom>
          <a:solidFill>
            <a:srgbClr val="EFE0D6"/>
          </a:solidFill>
          <a:ln w="9525">
            <a:solidFill>
              <a:srgbClr val="EFE0D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396B8B-237D-4ECF-9840-D619DCF1E440}"/>
              </a:ext>
            </a:extLst>
          </p:cNvPr>
          <p:cNvSpPr>
            <a:spLocks noGrp="1"/>
          </p:cNvSpPr>
          <p:nvPr/>
        </p:nvSpPr>
        <p:spPr>
          <a:xfrm>
            <a:off x="6414089" y="4965929"/>
            <a:ext cx="4118000" cy="1777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A65F3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500" b="1" noProof="0" dirty="0">
                <a:solidFill>
                  <a:srgbClr val="A65F3B"/>
                </a:solidFill>
                <a:latin typeface="Aptos Display"/>
                <a:ea typeface="Aptos Display"/>
                <a:cs typeface="Aptos Display"/>
              </a:rPr>
              <a:t>Why not </a:t>
            </a:r>
            <a:r>
              <a:rPr lang="en-US" sz="1500" b="1" noProof="0" dirty="0" err="1">
                <a:solidFill>
                  <a:srgbClr val="A65F3B"/>
                </a:solidFill>
                <a:latin typeface="Aptos Display"/>
                <a:ea typeface="Aptos Display"/>
                <a:cs typeface="Aptos Display"/>
              </a:rPr>
              <a:t>Brightway</a:t>
            </a:r>
            <a:r>
              <a:rPr lang="en-US" sz="1500" b="1" noProof="0" dirty="0">
                <a:solidFill>
                  <a:srgbClr val="A65F3B"/>
                </a:solidFill>
                <a:latin typeface="Aptos Display"/>
                <a:ea typeface="Aptos Display"/>
                <a:cs typeface="Aptos Display"/>
              </a:rPr>
              <a:t> “code”?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D9FC530-9FC2-4B7F-B2DB-36F113E0AFC3}"/>
              </a:ext>
            </a:extLst>
          </p:cNvPr>
          <p:cNvSpPr>
            <a:spLocks noGrp="1"/>
          </p:cNvSpPr>
          <p:nvPr/>
        </p:nvSpPr>
        <p:spPr>
          <a:xfrm>
            <a:off x="6414089" y="5310267"/>
            <a:ext cx="115304" cy="45719"/>
          </a:xfrm>
          <a:prstGeom prst="rect">
            <a:avLst/>
          </a:prstGeom>
          <a:solidFill>
            <a:srgbClr val="A65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0A8173-D523-4D6C-8371-754D8E2817F6}"/>
              </a:ext>
            </a:extLst>
          </p:cNvPr>
          <p:cNvSpPr>
            <a:spLocks noGrp="1"/>
          </p:cNvSpPr>
          <p:nvPr/>
        </p:nvSpPr>
        <p:spPr>
          <a:xfrm>
            <a:off x="6625855" y="5234068"/>
            <a:ext cx="3590896" cy="26028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premise can assign different codes and ids across years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EAE6740-83E8-4A30-8719-A73341EE4BEC}"/>
              </a:ext>
            </a:extLst>
          </p:cNvPr>
          <p:cNvSpPr>
            <a:spLocks noGrp="1"/>
          </p:cNvSpPr>
          <p:nvPr/>
        </p:nvSpPr>
        <p:spPr>
          <a:xfrm>
            <a:off x="6424722" y="5536875"/>
            <a:ext cx="115304" cy="45719"/>
          </a:xfrm>
          <a:prstGeom prst="rect">
            <a:avLst/>
          </a:prstGeom>
          <a:solidFill>
            <a:srgbClr val="A65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2794F2-F07B-4F28-B794-429FA6EFF7CA}"/>
              </a:ext>
            </a:extLst>
          </p:cNvPr>
          <p:cNvSpPr>
            <a:spLocks noGrp="1"/>
          </p:cNvSpPr>
          <p:nvPr/>
        </p:nvSpPr>
        <p:spPr>
          <a:xfrm>
            <a:off x="6615222" y="5460676"/>
            <a:ext cx="3590896" cy="26028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same market can still share name, product, unit and location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A95FA0-F671-4337-AC57-FEA991EEB865}"/>
              </a:ext>
            </a:extLst>
          </p:cNvPr>
          <p:cNvSpPr>
            <a:spLocks noGrp="1"/>
          </p:cNvSpPr>
          <p:nvPr/>
        </p:nvSpPr>
        <p:spPr>
          <a:xfrm>
            <a:off x="6424722" y="5784744"/>
            <a:ext cx="115304" cy="45719"/>
          </a:xfrm>
          <a:prstGeom prst="rect">
            <a:avLst/>
          </a:prstGeom>
          <a:solidFill>
            <a:srgbClr val="A65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B19875-24CF-4FAA-BFF3-9373AEAFE312}"/>
              </a:ext>
            </a:extLst>
          </p:cNvPr>
          <p:cNvSpPr>
            <a:spLocks noGrp="1"/>
          </p:cNvSpPr>
          <p:nvPr/>
        </p:nvSpPr>
        <p:spPr>
          <a:xfrm>
            <a:off x="6615222" y="5708549"/>
            <a:ext cx="3590896" cy="26028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node lookup is therefore more stable for price time series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8AEF7C-47BB-4164-A0FB-5D316DB0BF3A}"/>
              </a:ext>
            </a:extLst>
          </p:cNvPr>
          <p:cNvSpPr>
            <a:spLocks noGrp="1"/>
          </p:cNvSpPr>
          <p:nvPr/>
        </p:nvSpPr>
        <p:spPr>
          <a:xfrm>
            <a:off x="656076" y="1795532"/>
            <a:ext cx="3937189" cy="373358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noProof="0" dirty="0">
                <a:solidFill>
                  <a:srgbClr val="FFC000"/>
                </a:solidFill>
              </a:rPr>
              <a:t>set_market_prices</a:t>
            </a:r>
            <a:r>
              <a:rPr lang="en-US" noProof="0" dirty="0">
                <a:solidFill>
                  <a:srgbClr val="FFFF00"/>
                </a:solidFill>
              </a:rPr>
              <a:t>(</a:t>
            </a:r>
          </a:p>
          <a:p>
            <a:r>
              <a:rPr lang="en-US" noProof="0" dirty="0"/>
              <a:t>    </a:t>
            </a:r>
            <a:r>
              <a:rPr lang="en-US" noProof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price_data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Any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</a:t>
            </a:r>
            <a:r>
              <a:rPr lang="en-US" noProof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background_databases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dict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[int, str]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</a:t>
            </a:r>
            <a:r>
              <a:rPr lang="en-US" noProof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name_col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/>
              <a:t>=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2"/>
                </a:solidFill>
              </a:rPr>
              <a:t>"name"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</a:t>
            </a:r>
            <a:r>
              <a:rPr lang="en-US" noProof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year_col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/>
              <a:t>=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2"/>
                </a:solidFill>
              </a:rPr>
              <a:t>"year"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</a:t>
            </a:r>
            <a:r>
              <a:rPr lang="en-US" noProof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price_col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/>
              <a:t>=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2"/>
                </a:solidFill>
              </a:rPr>
              <a:t>"price"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</a:t>
            </a:r>
            <a:r>
              <a:rPr lang="en-US" noProof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location_col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/>
              <a:t>|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None </a:t>
            </a:r>
            <a:r>
              <a:rPr lang="en-US" noProof="0" dirty="0"/>
              <a:t>=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2"/>
                </a:solidFill>
              </a:rPr>
              <a:t>"location"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</a:t>
            </a:r>
            <a:r>
              <a:rPr lang="en-US" noProof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product_col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/>
              <a:t>|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None </a:t>
            </a:r>
            <a:r>
              <a:rPr lang="en-US" noProof="0" dirty="0"/>
              <a:t>=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None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</a:t>
            </a:r>
            <a:r>
              <a:rPr lang="en-US" noProof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unit_col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str </a:t>
            </a:r>
            <a:r>
              <a:rPr lang="en-US" noProof="0" dirty="0"/>
              <a:t>|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None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/>
              <a:t>=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None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</a:t>
            </a:r>
            <a:r>
              <a:rPr lang="en-US" noProof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price_attribute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/>
              <a:t>=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2"/>
                </a:solidFill>
              </a:rPr>
              <a:t>"</a:t>
            </a:r>
            <a:r>
              <a:rPr lang="en-US" noProof="0" dirty="0" err="1">
                <a:solidFill>
                  <a:schemeClr val="accent2"/>
                </a:solidFill>
              </a:rPr>
              <a:t>market_price</a:t>
            </a:r>
            <a:r>
              <a:rPr lang="en-US" noProof="0" dirty="0">
                <a:solidFill>
                  <a:schemeClr val="accent2"/>
                </a:solidFill>
              </a:rPr>
              <a:t>"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overwrite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bool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/>
              <a:t>=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True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  strict</a:t>
            </a:r>
            <a:r>
              <a:rPr lang="en-US" noProof="0" dirty="0"/>
              <a:t>: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bool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noProof="0" dirty="0"/>
              <a:t>=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True</a:t>
            </a:r>
            <a:r>
              <a:rPr lang="en-US" noProof="0" dirty="0"/>
              <a:t>,</a:t>
            </a:r>
          </a:p>
          <a:p>
            <a:r>
              <a:rPr lang="en-US" noProof="0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08D5EF-7D93-DE21-BE38-9AE9DB2C2984}"/>
              </a:ext>
            </a:extLst>
          </p:cNvPr>
          <p:cNvSpPr txBox="1"/>
          <p:nvPr/>
        </p:nvSpPr>
        <p:spPr>
          <a:xfrm>
            <a:off x="6062772" y="1414130"/>
            <a:ext cx="1596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>
                <a:solidFill>
                  <a:schemeClr val="tx2">
                    <a:lumMod val="50000"/>
                    <a:lumOff val="50000"/>
                  </a:schemeClr>
                </a:solidFill>
              </a:rPr>
              <a:t>price_data</a:t>
            </a:r>
            <a:r>
              <a:rPr lang="en-US" noProof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4373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314CF50-B126-4872-95F9-36662E166D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F01C93F-D751-4D16-A0AA-0EA4EE2EA959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F0ED6BE-6F4F-4188-B791-7AB0A9030A8A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LCADATAPROCESSOR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573090-7E10-461B-8C1A-482CC5B080F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Processor turns node prices into cap/op time-series cost vectors.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8C4226-25C8-46E5-835B-6C914F59207B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BE960B-9382-4D90-8F65-20CF7BDAE077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Source: src/optimex/lca_processor.py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D7D7D4-7B09-4370-BDC3-FB3CC9D7708E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6E915C-53CB-4B99-9419-33135DB1B403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211455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F5461-3375-41D0-8FD5-80633187D0B9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57150" cy="12001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8FE1EB-591D-409A-A0A8-31D9DC2875AD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Foreground edges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D71043-E5B6-412F-B738-BD70C75F9F11}"/>
              </a:ext>
            </a:extLst>
          </p:cNvPr>
          <p:cNvSpPr>
            <a:spLocks noGrp="1"/>
          </p:cNvSpPr>
          <p:nvPr/>
        </p:nvSpPr>
        <p:spPr>
          <a:xfrm>
            <a:off x="914400" y="2486025"/>
            <a:ext cx="1828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0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detect cost-relevant intermediate flows</a:t>
            </a:r>
            <a:endParaRPr lang="en-US" sz="900" b="0" noProof="0" dirty="0">
              <a:solidFill>
                <a:srgbClr val="5E73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972E7D-F566-42DC-B79B-8211E79E10B6}"/>
              </a:ext>
            </a:extLst>
          </p:cNvPr>
          <p:cNvSpPr>
            <a:spLocks noGrp="1"/>
          </p:cNvSpPr>
          <p:nvPr/>
        </p:nvSpPr>
        <p:spPr>
          <a:xfrm>
            <a:off x="2924175" y="2543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D036CF-BE62-402F-89EC-4A8DF70AB820}"/>
              </a:ext>
            </a:extLst>
          </p:cNvPr>
          <p:cNvSpPr>
            <a:spLocks noGrp="1"/>
          </p:cNvSpPr>
          <p:nvPr/>
        </p:nvSpPr>
        <p:spPr>
          <a:xfrm>
            <a:off x="3409950" y="2076450"/>
            <a:ext cx="211455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971A8A-F8A8-4330-8798-E32091BB19E1}"/>
              </a:ext>
            </a:extLst>
          </p:cNvPr>
          <p:cNvSpPr>
            <a:spLocks noGrp="1"/>
          </p:cNvSpPr>
          <p:nvPr/>
        </p:nvSpPr>
        <p:spPr>
          <a:xfrm>
            <a:off x="3409950" y="2076450"/>
            <a:ext cx="57150" cy="1200150"/>
          </a:xfrm>
          <a:prstGeom prst="rect">
            <a:avLst/>
          </a:prstGeom>
          <a:solidFill>
            <a:srgbClr val="A65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503A95-382C-4351-AEB0-C95119619643}"/>
              </a:ext>
            </a:extLst>
          </p:cNvPr>
          <p:cNvSpPr>
            <a:spLocks noGrp="1"/>
          </p:cNvSpPr>
          <p:nvPr/>
        </p:nvSpPr>
        <p:spPr>
          <a:xfrm>
            <a:off x="3581400" y="22098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Cost role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E2E0D-0952-4B97-83CF-C2DF2347E1E1}"/>
              </a:ext>
            </a:extLst>
          </p:cNvPr>
          <p:cNvSpPr>
            <a:spLocks noGrp="1"/>
          </p:cNvSpPr>
          <p:nvPr/>
        </p:nvSpPr>
        <p:spPr>
          <a:xfrm>
            <a:off x="3581400" y="2486025"/>
            <a:ext cx="1828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operation=True -&gt; op; </a:t>
            </a:r>
            <a:b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</a:b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otherwise -&gt; cap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99D3D0-8BF4-4731-AE04-87C5ADD3BFE9}"/>
              </a:ext>
            </a:extLst>
          </p:cNvPr>
          <p:cNvSpPr>
            <a:spLocks noGrp="1"/>
          </p:cNvSpPr>
          <p:nvPr/>
        </p:nvSpPr>
        <p:spPr>
          <a:xfrm>
            <a:off x="5591175" y="2543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3B6F95-73BB-4850-884E-32EF9B400388}"/>
              </a:ext>
            </a:extLst>
          </p:cNvPr>
          <p:cNvSpPr>
            <a:spLocks noGrp="1"/>
          </p:cNvSpPr>
          <p:nvPr/>
        </p:nvSpPr>
        <p:spPr>
          <a:xfrm>
            <a:off x="6076950" y="2076450"/>
            <a:ext cx="2114550" cy="1200150"/>
          </a:xfrm>
          <a:prstGeom prst="rect">
            <a:avLst/>
          </a:prstGeom>
          <a:solidFill>
            <a:srgbClr val="DDE7DF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A182A5-6D10-42A7-86BD-721B37BDE2FA}"/>
              </a:ext>
            </a:extLst>
          </p:cNvPr>
          <p:cNvSpPr>
            <a:spLocks noGrp="1"/>
          </p:cNvSpPr>
          <p:nvPr/>
        </p:nvSpPr>
        <p:spPr>
          <a:xfrm>
            <a:off x="6076950" y="2076450"/>
            <a:ext cx="57150" cy="12001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CF014-D427-41AC-B5B7-C1BB149844FB}"/>
              </a:ext>
            </a:extLst>
          </p:cNvPr>
          <p:cNvSpPr>
            <a:spLocks noGrp="1"/>
          </p:cNvSpPr>
          <p:nvPr/>
        </p:nvSpPr>
        <p:spPr>
          <a:xfrm>
            <a:off x="6248400" y="22098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Node price read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8D0B25-D902-4D19-9B22-92683BFB6827}"/>
              </a:ext>
            </a:extLst>
          </p:cNvPr>
          <p:cNvSpPr>
            <a:spLocks noGrp="1"/>
          </p:cNvSpPr>
          <p:nvPr/>
        </p:nvSpPr>
        <p:spPr>
          <a:xfrm>
            <a:off x="6248400" y="2486025"/>
            <a:ext cx="1828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0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market_price</a:t>
            </a: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 from each background DB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E32462-1B92-4FB0-A66B-F5F883EE55F2}"/>
              </a:ext>
            </a:extLst>
          </p:cNvPr>
          <p:cNvSpPr>
            <a:spLocks noGrp="1"/>
          </p:cNvSpPr>
          <p:nvPr/>
        </p:nvSpPr>
        <p:spPr>
          <a:xfrm>
            <a:off x="8258175" y="2543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2A07AE-9B95-48AE-B76B-4E12CFF5083E}"/>
              </a:ext>
            </a:extLst>
          </p:cNvPr>
          <p:cNvSpPr>
            <a:spLocks noGrp="1"/>
          </p:cNvSpPr>
          <p:nvPr/>
        </p:nvSpPr>
        <p:spPr>
          <a:xfrm>
            <a:off x="8743950" y="2076450"/>
            <a:ext cx="211455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EFC1FD-6B57-4A4F-B5F6-CA1975B02AA2}"/>
              </a:ext>
            </a:extLst>
          </p:cNvPr>
          <p:cNvSpPr>
            <a:spLocks noGrp="1"/>
          </p:cNvSpPr>
          <p:nvPr/>
        </p:nvSpPr>
        <p:spPr>
          <a:xfrm>
            <a:off x="8743950" y="2076450"/>
            <a:ext cx="57150" cy="12001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B0D6AB-576D-4494-B335-1EE61742BE4F}"/>
              </a:ext>
            </a:extLst>
          </p:cNvPr>
          <p:cNvSpPr>
            <a:spLocks noGrp="1"/>
          </p:cNvSpPr>
          <p:nvPr/>
        </p:nvSpPr>
        <p:spPr>
          <a:xfrm>
            <a:off x="8915400" y="22098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Mapping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1DD6FB-57B6-4796-BE4B-C6547F79398C}"/>
              </a:ext>
            </a:extLst>
          </p:cNvPr>
          <p:cNvSpPr>
            <a:spLocks noGrp="1"/>
          </p:cNvSpPr>
          <p:nvPr/>
        </p:nvSpPr>
        <p:spPr>
          <a:xfrm>
            <a:off x="8915400" y="2486025"/>
            <a:ext cx="1828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linear background-to-SYSTEM_TIME interpolation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2351EE-9763-4FB2-A4A7-8E91B2901E7D}"/>
              </a:ext>
            </a:extLst>
          </p:cNvPr>
          <p:cNvSpPr>
            <a:spLocks noGrp="1"/>
          </p:cNvSpPr>
          <p:nvPr/>
        </p:nvSpPr>
        <p:spPr>
          <a:xfrm>
            <a:off x="914400" y="4095750"/>
            <a:ext cx="4572000" cy="10668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DCC090-3D4A-46DD-96C5-E17A66AE8833}"/>
              </a:ext>
            </a:extLst>
          </p:cNvPr>
          <p:cNvSpPr>
            <a:spLocks noGrp="1"/>
          </p:cNvSpPr>
          <p:nvPr/>
        </p:nvSpPr>
        <p:spPr>
          <a:xfrm>
            <a:off x="1162049" y="4343400"/>
            <a:ext cx="4079801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4D51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425" b="0" noProof="0" dirty="0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intermediate_costs_cap[(flow, year)]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B1B4F7-8733-4706-AB16-B6FED8C0F58B}"/>
              </a:ext>
            </a:extLst>
          </p:cNvPr>
          <p:cNvSpPr>
            <a:spLocks noGrp="1"/>
          </p:cNvSpPr>
          <p:nvPr/>
        </p:nvSpPr>
        <p:spPr>
          <a:xfrm>
            <a:off x="1162050" y="4686300"/>
            <a:ext cx="3810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filled when the background flow appears on at least one non-operation foreground edge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3E9232-B0A8-484F-B4E0-575B11223295}"/>
              </a:ext>
            </a:extLst>
          </p:cNvPr>
          <p:cNvSpPr>
            <a:spLocks noGrp="1"/>
          </p:cNvSpPr>
          <p:nvPr/>
        </p:nvSpPr>
        <p:spPr>
          <a:xfrm>
            <a:off x="6705600" y="4095750"/>
            <a:ext cx="4572000" cy="10668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C338AC-D4E0-46D9-A1B0-CF0F2C3AB218}"/>
              </a:ext>
            </a:extLst>
          </p:cNvPr>
          <p:cNvSpPr>
            <a:spLocks noGrp="1"/>
          </p:cNvSpPr>
          <p:nvPr/>
        </p:nvSpPr>
        <p:spPr>
          <a:xfrm>
            <a:off x="6953250" y="43434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A65F3B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425" b="0" noProof="0" dirty="0">
                <a:solidFill>
                  <a:srgbClr val="A65F3B"/>
                </a:solidFill>
                <a:latin typeface="Aptos Mono"/>
                <a:ea typeface="Aptos Mono"/>
                <a:cs typeface="Aptos Mono"/>
              </a:rPr>
              <a:t>intermediate_costs_op[(flow, year)]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57EDEF-9552-4BD6-B568-E15A2A6B5E43}"/>
              </a:ext>
            </a:extLst>
          </p:cNvPr>
          <p:cNvSpPr>
            <a:spLocks noGrp="1"/>
          </p:cNvSpPr>
          <p:nvPr/>
        </p:nvSpPr>
        <p:spPr>
          <a:xfrm>
            <a:off x="6953250" y="4686300"/>
            <a:ext cx="3810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filled when the same flow appears on at least one operation=True foreground edge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2709B7-BF0F-45CD-AA94-1E4B5BD61AFA}"/>
              </a:ext>
            </a:extLst>
          </p:cNvPr>
          <p:cNvSpPr>
            <a:spLocks noGrp="1"/>
          </p:cNvSpPr>
          <p:nvPr/>
        </p:nvSpPr>
        <p:spPr>
          <a:xfrm>
            <a:off x="1733550" y="5562600"/>
            <a:ext cx="866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Missing </a:t>
            </a:r>
            <a:r>
              <a:rPr lang="en-US" sz="1350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market_price</a:t>
            </a: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is warned because otherwise the input becomes cost-free.</a:t>
            </a:r>
          </a:p>
        </p:txBody>
      </p:sp>
    </p:spTree>
    <p:extLst>
      <p:ext uri="{BB962C8B-B14F-4D97-AF65-F5344CB8AC3E}">
        <p14:creationId xmlns:p14="http://schemas.microsoft.com/office/powerpoint/2010/main" val="786067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1F859CD-C0F7-44AA-9075-4270B73EFD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9A09F17-09F8-4634-B352-AC1A2DBC67CD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57779B9-336C-4BDF-BA63-D06D4F697B2D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MODEL INPUTS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B9121-6634-4419-A1E4-C50E5F05096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The converter now carries economic data through validation and serialization.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41D95-A265-40E8-AB66-01ECDD4390AD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90590F-B8D5-406B-A854-FD1BF905ED5F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Source: src/optimex/converter.py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AD38F4-5F03-4B34-AE24-9D1C60FCDDF2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671C92-57D4-4A26-9817-CB244F490714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2960370" cy="523875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80BA47-14D2-46BA-A57D-52C4FF841E6A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269367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 err="1">
                <a:solidFill>
                  <a:srgbClr val="1E4D51"/>
                </a:solidFill>
                <a:latin typeface="Aptos"/>
                <a:ea typeface="Aptos"/>
                <a:cs typeface="Aptos"/>
              </a:rPr>
              <a:t>OptimizationModelInputs</a:t>
            </a: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 field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3694E3-67D8-4CE7-B19E-89F865987C30}"/>
              </a:ext>
            </a:extLst>
          </p:cNvPr>
          <p:cNvSpPr>
            <a:spLocks noGrp="1"/>
          </p:cNvSpPr>
          <p:nvPr/>
        </p:nvSpPr>
        <p:spPr>
          <a:xfrm>
            <a:off x="3627120" y="1924050"/>
            <a:ext cx="4088130" cy="523875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DECF95-DB5F-4A52-8906-6B29F01F5EA6}"/>
              </a:ext>
            </a:extLst>
          </p:cNvPr>
          <p:cNvSpPr>
            <a:spLocks noGrp="1"/>
          </p:cNvSpPr>
          <p:nvPr/>
        </p:nvSpPr>
        <p:spPr>
          <a:xfrm>
            <a:off x="3760470" y="2038350"/>
            <a:ext cx="382143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2FAA53-1311-4068-BE6B-89581316FFC4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2960370" cy="52387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0A0A77-93FF-47B1-9AC4-574A063E0A11}"/>
              </a:ext>
            </a:extLst>
          </p:cNvPr>
          <p:cNvSpPr>
            <a:spLocks noGrp="1"/>
          </p:cNvSpPr>
          <p:nvPr/>
        </p:nvSpPr>
        <p:spPr>
          <a:xfrm>
            <a:off x="800100" y="2543175"/>
            <a:ext cx="269367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intermediate_costs_cap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41C8AF-6528-4793-8927-CCBE566DD94A}"/>
              </a:ext>
            </a:extLst>
          </p:cNvPr>
          <p:cNvSpPr>
            <a:spLocks noGrp="1"/>
          </p:cNvSpPr>
          <p:nvPr/>
        </p:nvSpPr>
        <p:spPr>
          <a:xfrm>
            <a:off x="3627120" y="2447925"/>
            <a:ext cx="4088130" cy="52387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6D4798-1477-4682-8138-F81F89C20648}"/>
              </a:ext>
            </a:extLst>
          </p:cNvPr>
          <p:cNvSpPr>
            <a:spLocks noGrp="1"/>
          </p:cNvSpPr>
          <p:nvPr/>
        </p:nvSpPr>
        <p:spPr>
          <a:xfrm>
            <a:off x="3760470" y="2543175"/>
            <a:ext cx="382143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prices for installation-related first-level background purchases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B36220-4E0B-4025-8169-8BB8A3F59637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2960370" cy="52387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08A7B-C005-443D-9ECB-963C9AEA9044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269367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intermediate_costs_op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2844AF-EA16-400A-BEA7-9B07D4D715EF}"/>
              </a:ext>
            </a:extLst>
          </p:cNvPr>
          <p:cNvSpPr>
            <a:spLocks noGrp="1"/>
          </p:cNvSpPr>
          <p:nvPr/>
        </p:nvSpPr>
        <p:spPr>
          <a:xfrm>
            <a:off x="3627120" y="2971800"/>
            <a:ext cx="4088130" cy="52387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A4DF42-C325-4468-AD55-8C3D8707C457}"/>
              </a:ext>
            </a:extLst>
          </p:cNvPr>
          <p:cNvSpPr>
            <a:spLocks noGrp="1"/>
          </p:cNvSpPr>
          <p:nvPr/>
        </p:nvSpPr>
        <p:spPr>
          <a:xfrm>
            <a:off x="3760470" y="3067050"/>
            <a:ext cx="382143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prices for operation-related first-level background purchases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87F4C0-A010-4414-B52A-5A8AD6FCA685}"/>
              </a:ext>
            </a:extLst>
          </p:cNvPr>
          <p:cNvSpPr>
            <a:spLocks noGrp="1"/>
          </p:cNvSpPr>
          <p:nvPr/>
        </p:nvSpPr>
        <p:spPr>
          <a:xfrm>
            <a:off x="666750" y="3495675"/>
            <a:ext cx="2960370" cy="52387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18D8BA-338D-4A8E-95C3-F55B3006C963}"/>
              </a:ext>
            </a:extLst>
          </p:cNvPr>
          <p:cNvSpPr>
            <a:spLocks noGrp="1"/>
          </p:cNvSpPr>
          <p:nvPr/>
        </p:nvSpPr>
        <p:spPr>
          <a:xfrm>
            <a:off x="800100" y="3590925"/>
            <a:ext cx="269367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050" b="1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discount_rate</a:t>
            </a:r>
            <a:endParaRPr lang="en-US" sz="1050" b="1" noProof="0" dirty="0">
              <a:solidFill>
                <a:srgbClr val="182225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508654-53DC-4D2E-A2E3-F1625EBD01C0}"/>
              </a:ext>
            </a:extLst>
          </p:cNvPr>
          <p:cNvSpPr>
            <a:spLocks noGrp="1"/>
          </p:cNvSpPr>
          <p:nvPr/>
        </p:nvSpPr>
        <p:spPr>
          <a:xfrm>
            <a:off x="3627120" y="3495675"/>
            <a:ext cx="4088130" cy="523875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B6C3DF-2226-46F7-BD60-ED2620C2784F}"/>
              </a:ext>
            </a:extLst>
          </p:cNvPr>
          <p:cNvSpPr>
            <a:spLocks noGrp="1"/>
          </p:cNvSpPr>
          <p:nvPr/>
        </p:nvSpPr>
        <p:spPr>
          <a:xfrm>
            <a:off x="3760470" y="3590925"/>
            <a:ext cx="382143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optional rate for discounted total cost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BF3D85-8EEC-4837-B218-8749E0B20F33}"/>
              </a:ext>
            </a:extLst>
          </p:cNvPr>
          <p:cNvSpPr>
            <a:spLocks noGrp="1"/>
          </p:cNvSpPr>
          <p:nvPr/>
        </p:nvSpPr>
        <p:spPr>
          <a:xfrm>
            <a:off x="666750" y="4019550"/>
            <a:ext cx="2960370" cy="52387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B9486A-90DB-4517-9ED6-928C25020C5C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269367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050" b="1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discount_reference_year</a:t>
            </a:r>
            <a:endParaRPr lang="en-US" sz="1050" b="1" noProof="0" dirty="0">
              <a:solidFill>
                <a:srgbClr val="182225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E9A14F-91CB-4541-A5A1-73B824460AF6}"/>
              </a:ext>
            </a:extLst>
          </p:cNvPr>
          <p:cNvSpPr>
            <a:spLocks noGrp="1"/>
          </p:cNvSpPr>
          <p:nvPr/>
        </p:nvSpPr>
        <p:spPr>
          <a:xfrm>
            <a:off x="3627120" y="4019550"/>
            <a:ext cx="4088130" cy="523875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D00C4A-426C-4E37-9D42-D977DB39C4DB}"/>
              </a:ext>
            </a:extLst>
          </p:cNvPr>
          <p:cNvSpPr>
            <a:spLocks noGrp="1"/>
          </p:cNvSpPr>
          <p:nvPr/>
        </p:nvSpPr>
        <p:spPr>
          <a:xfrm>
            <a:off x="3760470" y="4114800"/>
            <a:ext cx="382143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optional reference year; defaults later to first SYSTEM_TIME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34367E-0D3C-4AF2-873A-76EF7FC6495E}"/>
              </a:ext>
            </a:extLst>
          </p:cNvPr>
          <p:cNvSpPr>
            <a:spLocks noGrp="1"/>
          </p:cNvSpPr>
          <p:nvPr/>
        </p:nvSpPr>
        <p:spPr>
          <a:xfrm>
            <a:off x="8286750" y="2038350"/>
            <a:ext cx="2724150" cy="2724150"/>
          </a:xfrm>
          <a:prstGeom prst="rect">
            <a:avLst/>
          </a:prstGeom>
          <a:solidFill>
            <a:srgbClr val="DDE7DF"/>
          </a:solidFill>
          <a:ln w="9525">
            <a:solidFill>
              <a:srgbClr val="DDE7D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AB3BC1-148C-46EA-A8F5-FE26FEECF758}"/>
              </a:ext>
            </a:extLst>
          </p:cNvPr>
          <p:cNvSpPr>
            <a:spLocks noGrp="1"/>
          </p:cNvSpPr>
          <p:nvPr/>
        </p:nvSpPr>
        <p:spPr>
          <a:xfrm>
            <a:off x="8534400" y="23431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E4D5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575" b="1" noProof="0" dirty="0">
                <a:solidFill>
                  <a:srgbClr val="1E4D51"/>
                </a:solidFill>
                <a:latin typeface="Aptos Display"/>
                <a:ea typeface="Aptos Display"/>
                <a:cs typeface="Aptos Display"/>
              </a:rPr>
              <a:t>Converter behavior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9DA952-1709-4538-BE7B-227A057B22CD}"/>
              </a:ext>
            </a:extLst>
          </p:cNvPr>
          <p:cNvSpPr>
            <a:spLocks noGrp="1"/>
          </p:cNvSpPr>
          <p:nvPr/>
        </p:nvSpPr>
        <p:spPr>
          <a:xfrm>
            <a:off x="8534400" y="297180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D47AF9-DB51-4D20-B46B-B1A5703F846E}"/>
              </a:ext>
            </a:extLst>
          </p:cNvPr>
          <p:cNvSpPr>
            <a:spLocks noGrp="1"/>
          </p:cNvSpPr>
          <p:nvPr/>
        </p:nvSpPr>
        <p:spPr>
          <a:xfrm>
            <a:off x="8724900" y="2831802"/>
            <a:ext cx="190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97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key validation against INTERMEDIATE_FLOW and SYSTEM_TIME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CD49A9-E35D-42D9-A91E-24619F1DAB13}"/>
              </a:ext>
            </a:extLst>
          </p:cNvPr>
          <p:cNvSpPr>
            <a:spLocks noGrp="1"/>
          </p:cNvSpPr>
          <p:nvPr/>
        </p:nvSpPr>
        <p:spPr>
          <a:xfrm>
            <a:off x="8534400" y="335280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045651A-6B84-4F45-A21D-6E8C5DE3B511}"/>
              </a:ext>
            </a:extLst>
          </p:cNvPr>
          <p:cNvSpPr>
            <a:spLocks noGrp="1"/>
          </p:cNvSpPr>
          <p:nvPr/>
        </p:nvSpPr>
        <p:spPr>
          <a:xfrm>
            <a:off x="8724899" y="3319132"/>
            <a:ext cx="1924047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97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negative </a:t>
            </a:r>
            <a:r>
              <a:rPr lang="en-US" sz="97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discount_rate</a:t>
            </a:r>
            <a:r>
              <a:rPr lang="en-US" sz="97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rejected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B40298-AA9B-4346-A518-0AF1388DDFA2}"/>
              </a:ext>
            </a:extLst>
          </p:cNvPr>
          <p:cNvSpPr>
            <a:spLocks noGrp="1"/>
          </p:cNvSpPr>
          <p:nvPr/>
        </p:nvSpPr>
        <p:spPr>
          <a:xfrm>
            <a:off x="8534400" y="373380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913AB4-420D-47EE-9FA7-BC2F7D650116}"/>
              </a:ext>
            </a:extLst>
          </p:cNvPr>
          <p:cNvSpPr>
            <a:spLocks noGrp="1"/>
          </p:cNvSpPr>
          <p:nvPr/>
        </p:nvSpPr>
        <p:spPr>
          <a:xfrm>
            <a:off x="8724900" y="3657600"/>
            <a:ext cx="190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97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parse_from_lca_processor</a:t>
            </a:r>
            <a:r>
              <a:rPr lang="en-US" sz="97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copies cap/op dictionaries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01E0C5-614B-466D-B42F-F4598A5F7132}"/>
              </a:ext>
            </a:extLst>
          </p:cNvPr>
          <p:cNvSpPr>
            <a:spLocks noGrp="1"/>
          </p:cNvSpPr>
          <p:nvPr/>
        </p:nvSpPr>
        <p:spPr>
          <a:xfrm>
            <a:off x="8534400" y="411480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63AC18-0E41-4376-8E86-B685E77E1FCD}"/>
              </a:ext>
            </a:extLst>
          </p:cNvPr>
          <p:cNvSpPr>
            <a:spLocks noGrp="1"/>
          </p:cNvSpPr>
          <p:nvPr/>
        </p:nvSpPr>
        <p:spPr>
          <a:xfrm>
            <a:off x="8724900" y="4038600"/>
            <a:ext cx="190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97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tuple-key JSON serialization and load roundtrip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6518EA-8690-4907-9D1D-98A4E7F5D151}"/>
              </a:ext>
            </a:extLst>
          </p:cNvPr>
          <p:cNvSpPr>
            <a:spLocks noGrp="1"/>
          </p:cNvSpPr>
          <p:nvPr/>
        </p:nvSpPr>
        <p:spPr>
          <a:xfrm>
            <a:off x="1314450" y="5381625"/>
            <a:ext cx="942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3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Prices remain real prices; scaling is handled in optimizer purchase expressions.</a:t>
            </a:r>
          </a:p>
        </p:txBody>
      </p:sp>
    </p:spTree>
    <p:extLst>
      <p:ext uri="{BB962C8B-B14F-4D97-AF65-F5344CB8AC3E}">
        <p14:creationId xmlns:p14="http://schemas.microsoft.com/office/powerpoint/2010/main" val="524866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D4C7ED0-3CE6-4B21-B952-07535F35FD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DADC365-DE00-4768-BC67-73B1ED5593F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3EF810B-7264-4EC3-9DBE-E9088D8A095B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PYOMO OPTIMIZER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5F7564-A805-4951-BEA6-CFE1112CFB41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The </a:t>
            </a:r>
            <a:r>
              <a:rPr lang="en-US" sz="2550" b="1" dirty="0" err="1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pyomo</a:t>
            </a:r>
            <a:r>
              <a:rPr lang="en-US" sz="2550" b="1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model now contains direct-purchase cost expressions and an objective switch.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88CC2-4D4E-4BB4-893D-1029AE1B4D0C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BB095-F0AE-435C-BAB0-029CB23D732A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Source: src/optimex/optimizer.py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E240C2-2A4D-45DE-9C28-BF60A0D4931E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1271A9-6499-43AA-890C-07D3146C45E0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685800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3905F0-ABA8-4ADD-880D-3084868C9EA0}"/>
              </a:ext>
            </a:extLst>
          </p:cNvPr>
          <p:cNvSpPr>
            <a:spLocks noGrp="1"/>
          </p:cNvSpPr>
          <p:nvPr/>
        </p:nvSpPr>
        <p:spPr>
          <a:xfrm>
            <a:off x="1066800" y="201930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E4D51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125" b="1" noProof="0" dirty="0" err="1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background_purchase_cap</a:t>
            </a:r>
            <a:r>
              <a:rPr lang="en-US" sz="1125" b="1" noProof="0" dirty="0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en-US" sz="1125" b="1" noProof="0" dirty="0" err="1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i,t</a:t>
            </a:r>
            <a:r>
              <a:rPr lang="en-US" sz="1125" b="1" noProof="0" dirty="0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4942A8-B1DD-441E-B9A8-6C0B2DF02280}"/>
              </a:ext>
            </a:extLst>
          </p:cNvPr>
          <p:cNvSpPr>
            <a:spLocks noGrp="1"/>
          </p:cNvSpPr>
          <p:nvPr/>
        </p:nvSpPr>
        <p:spPr>
          <a:xfrm>
            <a:off x="4076700" y="201930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real first-level installation-related purchase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C01147-7661-46F9-A492-630DA387FFF4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685800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83F8D-4BD6-4B53-AF63-1AE17CA0673F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E4D51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125" b="1" noProof="0" dirty="0" err="1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background_purchase_op</a:t>
            </a:r>
            <a:r>
              <a:rPr lang="en-US" sz="1125" b="1" noProof="0" dirty="0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en-US" sz="1125" b="1" noProof="0" dirty="0" err="1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i,t</a:t>
            </a:r>
            <a:r>
              <a:rPr lang="en-US" sz="1125" b="1" noProof="0" dirty="0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E66E99-906F-40FC-B093-33C3F458DB4E}"/>
              </a:ext>
            </a:extLst>
          </p:cNvPr>
          <p:cNvSpPr>
            <a:spLocks noGrp="1"/>
          </p:cNvSpPr>
          <p:nvPr/>
        </p:nvSpPr>
        <p:spPr>
          <a:xfrm>
            <a:off x="4076700" y="25717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real first-level operation-related purchase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60E404-7762-45F6-BC9D-3754FC2095E8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685800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B6E4A5-CD28-47CD-8DE3-FB453E9EF09F}"/>
              </a:ext>
            </a:extLst>
          </p:cNvPr>
          <p:cNvSpPr>
            <a:spLocks noGrp="1"/>
          </p:cNvSpPr>
          <p:nvPr/>
        </p:nvSpPr>
        <p:spPr>
          <a:xfrm>
            <a:off x="1066800" y="312420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65F3B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125" b="1" noProof="0" dirty="0" err="1">
                <a:solidFill>
                  <a:srgbClr val="A65F3B"/>
                </a:solidFill>
                <a:latin typeface="Aptos Mono"/>
                <a:ea typeface="Aptos Mono"/>
                <a:cs typeface="Aptos Mono"/>
              </a:rPr>
              <a:t>cost_cap</a:t>
            </a:r>
            <a:r>
              <a:rPr lang="en-US" sz="1125" b="1" noProof="0" dirty="0">
                <a:solidFill>
                  <a:srgbClr val="A65F3B"/>
                </a:solidFill>
                <a:latin typeface="Aptos Mono"/>
                <a:ea typeface="Aptos Mono"/>
                <a:cs typeface="Aptos Mono"/>
              </a:rPr>
              <a:t>[t]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563B72-6BDC-494E-8763-E59308E1C3EE}"/>
              </a:ext>
            </a:extLst>
          </p:cNvPr>
          <p:cNvSpPr>
            <a:spLocks noGrp="1"/>
          </p:cNvSpPr>
          <p:nvPr/>
        </p:nvSpPr>
        <p:spPr>
          <a:xfrm>
            <a:off x="4076700" y="312420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sum_i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price_cap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[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i,t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] * 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purchase_cap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[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i,t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046C85-9DAE-4884-9096-B19038E1A6E8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685800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E6A9F4-6FFF-44B3-A8B3-353814246A21}"/>
              </a:ext>
            </a:extLst>
          </p:cNvPr>
          <p:cNvSpPr>
            <a:spLocks noGrp="1"/>
          </p:cNvSpPr>
          <p:nvPr/>
        </p:nvSpPr>
        <p:spPr>
          <a:xfrm>
            <a:off x="1066800" y="36766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65F3B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125" b="1" noProof="0" dirty="0" err="1">
                <a:solidFill>
                  <a:srgbClr val="A65F3B"/>
                </a:solidFill>
                <a:latin typeface="Aptos Mono"/>
                <a:ea typeface="Aptos Mono"/>
                <a:cs typeface="Aptos Mono"/>
              </a:rPr>
              <a:t>cost_op</a:t>
            </a:r>
            <a:r>
              <a:rPr lang="en-US" sz="1125" b="1" noProof="0" dirty="0">
                <a:solidFill>
                  <a:srgbClr val="A65F3B"/>
                </a:solidFill>
                <a:latin typeface="Aptos Mono"/>
                <a:ea typeface="Aptos Mono"/>
                <a:cs typeface="Aptos Mono"/>
              </a:rPr>
              <a:t>[t]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6EEBC5-C364-4791-9442-4D46B2DAEEFB}"/>
              </a:ext>
            </a:extLst>
          </p:cNvPr>
          <p:cNvSpPr>
            <a:spLocks noGrp="1"/>
          </p:cNvSpPr>
          <p:nvPr/>
        </p:nvSpPr>
        <p:spPr>
          <a:xfrm>
            <a:off x="4076700" y="3676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sum_i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price_op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[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i,t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] * 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purchase_op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[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i,t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504766-1591-48D6-9DFC-90BFB9BBF3EE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685800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1B9D49-93D7-49C7-AF62-FCB8AAFE1A21}"/>
              </a:ext>
            </a:extLst>
          </p:cNvPr>
          <p:cNvSpPr>
            <a:spLocks noGrp="1"/>
          </p:cNvSpPr>
          <p:nvPr/>
        </p:nvSpPr>
        <p:spPr>
          <a:xfrm>
            <a:off x="1066800" y="422910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65F3B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125" b="1" noProof="0" dirty="0" err="1">
                <a:solidFill>
                  <a:srgbClr val="A65F3B"/>
                </a:solidFill>
                <a:latin typeface="Aptos Mono"/>
                <a:ea typeface="Aptos Mono"/>
                <a:cs typeface="Aptos Mono"/>
              </a:rPr>
              <a:t>discount_factor</a:t>
            </a:r>
            <a:r>
              <a:rPr lang="en-US" sz="1125" b="1" noProof="0" dirty="0">
                <a:solidFill>
                  <a:srgbClr val="A65F3B"/>
                </a:solidFill>
                <a:latin typeface="Aptos Mono"/>
                <a:ea typeface="Aptos Mono"/>
                <a:cs typeface="Aptos Mono"/>
              </a:rPr>
              <a:t>[t]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A46FFC-C980-4222-9AA7-287B2BD77BBB}"/>
              </a:ext>
            </a:extLst>
          </p:cNvPr>
          <p:cNvSpPr>
            <a:spLocks noGrp="1"/>
          </p:cNvSpPr>
          <p:nvPr/>
        </p:nvSpPr>
        <p:spPr>
          <a:xfrm>
            <a:off x="4076700" y="422910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1 / (1 + 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discount_rate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)^(t - 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reference_year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DEB837-AFDA-4531-8320-15D73E28CE6B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685800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AA235A-0BC7-49EE-96ED-12F955F6F57C}"/>
              </a:ext>
            </a:extLst>
          </p:cNvPr>
          <p:cNvSpPr>
            <a:spLocks noGrp="1"/>
          </p:cNvSpPr>
          <p:nvPr/>
        </p:nvSpPr>
        <p:spPr>
          <a:xfrm>
            <a:off x="1066800" y="47815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65F3B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125" b="1" noProof="0" dirty="0" err="1">
                <a:solidFill>
                  <a:srgbClr val="A65F3B"/>
                </a:solidFill>
                <a:latin typeface="Aptos Mono"/>
                <a:ea typeface="Aptos Mono"/>
                <a:cs typeface="Aptos Mono"/>
              </a:rPr>
              <a:t>total_cost</a:t>
            </a:r>
            <a:endParaRPr lang="en-US" sz="1125" b="1" noProof="0" dirty="0">
              <a:solidFill>
                <a:srgbClr val="A65F3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AEAC6C-401F-4EFE-9611-F20DB0967FD1}"/>
              </a:ext>
            </a:extLst>
          </p:cNvPr>
          <p:cNvSpPr>
            <a:spLocks noGrp="1"/>
          </p:cNvSpPr>
          <p:nvPr/>
        </p:nvSpPr>
        <p:spPr>
          <a:xfrm>
            <a:off x="4076700" y="47815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sum_t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discount_factor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[t] * (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cost_cap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[t] + </a:t>
            </a: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cost_op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[t])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5DBFF5-4472-46E7-A846-2C5A333BA847}"/>
              </a:ext>
            </a:extLst>
          </p:cNvPr>
          <p:cNvSpPr>
            <a:spLocks noGrp="1"/>
          </p:cNvSpPr>
          <p:nvPr/>
        </p:nvSpPr>
        <p:spPr>
          <a:xfrm>
            <a:off x="8477250" y="2324100"/>
            <a:ext cx="2476500" cy="2038350"/>
          </a:xfrm>
          <a:prstGeom prst="rect">
            <a:avLst/>
          </a:prstGeom>
          <a:solidFill>
            <a:srgbClr val="EFE0D6"/>
          </a:solidFill>
          <a:ln w="9525">
            <a:solidFill>
              <a:srgbClr val="EFE0D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8FEB9D-11A5-4089-BA68-30E201583476}"/>
              </a:ext>
            </a:extLst>
          </p:cNvPr>
          <p:cNvSpPr>
            <a:spLocks noGrp="1"/>
          </p:cNvSpPr>
          <p:nvPr/>
        </p:nvSpPr>
        <p:spPr>
          <a:xfrm>
            <a:off x="8724900" y="262890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A65F3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575" b="1" noProof="0" dirty="0">
                <a:solidFill>
                  <a:srgbClr val="A65F3B"/>
                </a:solidFill>
                <a:latin typeface="Aptos Display"/>
                <a:ea typeface="Aptos Display"/>
                <a:cs typeface="Aptos Display"/>
              </a:rPr>
              <a:t>Objective switch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A5AC95-44CA-46D6-983E-E2666ACE502F}"/>
              </a:ext>
            </a:extLst>
          </p:cNvPr>
          <p:cNvSpPr>
            <a:spLocks noGrp="1"/>
          </p:cNvSpPr>
          <p:nvPr/>
        </p:nvSpPr>
        <p:spPr>
          <a:xfrm>
            <a:off x="8743950" y="31432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environmental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5568FC-5B65-4942-AB83-B25D66A3A4D5}"/>
              </a:ext>
            </a:extLst>
          </p:cNvPr>
          <p:cNvSpPr>
            <a:spLocks noGrp="1"/>
          </p:cNvSpPr>
          <p:nvPr/>
        </p:nvSpPr>
        <p:spPr>
          <a:xfrm>
            <a:off x="8743950" y="3390900"/>
            <a:ext cx="1952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7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min </a:t>
            </a:r>
            <a:r>
              <a:rPr lang="en-US" sz="975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total_impact</a:t>
            </a:r>
            <a:r>
              <a:rPr lang="en-US" sz="97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[category]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B73BF0-123C-48B8-9227-127425D08AD9}"/>
              </a:ext>
            </a:extLst>
          </p:cNvPr>
          <p:cNvSpPr>
            <a:spLocks noGrp="1"/>
          </p:cNvSpPr>
          <p:nvPr/>
        </p:nvSpPr>
        <p:spPr>
          <a:xfrm>
            <a:off x="8743950" y="3781425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cost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D217A5-E3D9-4C55-9035-ED4684DCB3A9}"/>
              </a:ext>
            </a:extLst>
          </p:cNvPr>
          <p:cNvSpPr>
            <a:spLocks noGrp="1"/>
          </p:cNvSpPr>
          <p:nvPr/>
        </p:nvSpPr>
        <p:spPr>
          <a:xfrm>
            <a:off x="8743950" y="4029075"/>
            <a:ext cx="1952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7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min </a:t>
            </a:r>
            <a:r>
              <a:rPr lang="en-US" sz="975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total_cost</a:t>
            </a:r>
            <a:endParaRPr lang="en-US" sz="975" b="0" noProof="0" dirty="0">
              <a:solidFill>
                <a:srgbClr val="5E73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2849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1956E66-67BF-43EE-A8D5-6EEAF9EE5C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30C2CDA-EA76-4040-B627-DD8B5E7A2038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D80D3E7-E4CD-4592-AE1F-D503ADAEE6D9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OBJECTIVE AND CONSTRAINTS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14B9F-AC6E-458D-B3A9-0D2BC9E71F6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min</a:t>
            </a: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-cost optimization remains compatible with environmental limits.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06D95-4CEE-47C1-9281-DCB50A308841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B44F4C-4904-4DAC-B25B-4E5A0A1B1308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Sources: docs/content/economic_optimization.md; optimizer.py; tests/test_economics.py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4D9A46-EC2A-4F98-9DC5-1458908CD8A5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9A9816-DAB6-482D-B81D-771C47DB3C39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6667500" cy="25908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D6D4E0-5B9B-4B06-9784-2A8C346C17E2}"/>
              </a:ext>
            </a:extLst>
          </p:cNvPr>
          <p:cNvSpPr>
            <a:spLocks noGrp="1"/>
          </p:cNvSpPr>
          <p:nvPr/>
        </p:nvSpPr>
        <p:spPr>
          <a:xfrm>
            <a:off x="1200150" y="2138907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E4D51"/>
                </a:solidFill>
                <a:latin typeface="Aptos Mono"/>
                <a:ea typeface="Aptos Mono"/>
                <a:cs typeface="Aptos Mono"/>
              </a:defRPr>
            </a:pPr>
            <a:r>
              <a:rPr lang="en-US" sz="2100" b="1" noProof="0" dirty="0" err="1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total_cost</a:t>
            </a:r>
            <a:r>
              <a:rPr lang="en-US" sz="2100" b="1" noProof="0" dirty="0">
                <a:solidFill>
                  <a:srgbClr val="1E4D51"/>
                </a:solidFill>
                <a:latin typeface="Aptos Mono"/>
                <a:ea typeface="Aptos Mono"/>
                <a:cs typeface="Aptos Mono"/>
              </a:rPr>
              <a:t> 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AFC190-F0B5-445D-B506-0DB06457ED7C}"/>
              </a:ext>
            </a:extLst>
          </p:cNvPr>
          <p:cNvSpPr>
            <a:spLocks noGrp="1"/>
          </p:cNvSpPr>
          <p:nvPr/>
        </p:nvSpPr>
        <p:spPr>
          <a:xfrm>
            <a:off x="1200150" y="2740532"/>
            <a:ext cx="561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72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sum_t</a:t>
            </a:r>
            <a:r>
              <a:rPr lang="en-US" sz="172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en-US" sz="172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discount_factor</a:t>
            </a:r>
            <a:r>
              <a:rPr lang="en-US" sz="172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[t] * (</a:t>
            </a:r>
            <a:r>
              <a:rPr lang="en-US" sz="172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cost_cap</a:t>
            </a:r>
            <a:r>
              <a:rPr lang="en-US" sz="172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[t] + </a:t>
            </a:r>
            <a:r>
              <a:rPr lang="en-US" sz="172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cost_op</a:t>
            </a:r>
            <a:r>
              <a:rPr lang="en-US" sz="172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[t])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ED2455-3AD6-4867-8E6A-BB5EFB18381B}"/>
              </a:ext>
            </a:extLst>
          </p:cNvPr>
          <p:cNvSpPr>
            <a:spLocks noGrp="1"/>
          </p:cNvSpPr>
          <p:nvPr/>
        </p:nvSpPr>
        <p:spPr>
          <a:xfrm>
            <a:off x="1200150" y="3370956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2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where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E48449-08C3-4548-9952-28F0B690312C}"/>
              </a:ext>
            </a:extLst>
          </p:cNvPr>
          <p:cNvSpPr>
            <a:spLocks noGrp="1"/>
          </p:cNvSpPr>
          <p:nvPr/>
        </p:nvSpPr>
        <p:spPr>
          <a:xfrm>
            <a:off x="1200150" y="3643857"/>
            <a:ext cx="561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cost_cap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[t] = 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sum_i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c_cap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i,t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] * 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background_purchase_cap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i,t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]</a:t>
            </a:r>
          </a:p>
          <a:p>
            <a:pPr algn="l">
              <a:defRPr sz="1275" b="0">
                <a:solidFill>
                  <a:srgbClr val="182225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cost_op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[t]  = 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sum_i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c_op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i,t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]  * 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background_purchase_op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lang="en-US" sz="1275" b="0" noProof="0" dirty="0" err="1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i,t</a:t>
            </a:r>
            <a:r>
              <a:rPr lang="en-US" sz="1275" b="0" noProof="0" dirty="0">
                <a:solidFill>
                  <a:srgbClr val="182225"/>
                </a:solidFill>
                <a:latin typeface="Aptos Mono"/>
                <a:ea typeface="Aptos Mono"/>
                <a:cs typeface="Aptos Mono"/>
              </a:rPr>
              <a:t>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86023D-64A1-4D91-A016-317C9A7F613D}"/>
              </a:ext>
            </a:extLst>
          </p:cNvPr>
          <p:cNvSpPr>
            <a:spLocks noGrp="1"/>
          </p:cNvSpPr>
          <p:nvPr/>
        </p:nvSpPr>
        <p:spPr>
          <a:xfrm>
            <a:off x="8058150" y="2076450"/>
            <a:ext cx="2724150" cy="2400300"/>
          </a:xfrm>
          <a:prstGeom prst="rect">
            <a:avLst/>
          </a:prstGeom>
          <a:solidFill>
            <a:srgbClr val="DDE7DF"/>
          </a:solidFill>
          <a:ln w="9525">
            <a:solidFill>
              <a:srgbClr val="DDE7D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0F1BE-BEC6-4C7A-B19F-ABA5F30F59AA}"/>
              </a:ext>
            </a:extLst>
          </p:cNvPr>
          <p:cNvSpPr>
            <a:spLocks noGrp="1"/>
          </p:cNvSpPr>
          <p:nvPr/>
        </p:nvSpPr>
        <p:spPr>
          <a:xfrm>
            <a:off x="8324850" y="24003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E4D5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650" b="1" noProof="0" dirty="0">
                <a:solidFill>
                  <a:srgbClr val="1E4D51"/>
                </a:solidFill>
                <a:latin typeface="Aptos Display"/>
                <a:ea typeface="Aptos Display"/>
                <a:cs typeface="Aptos Display"/>
              </a:rPr>
              <a:t>Environmental constraints stay active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C70DD3-0061-48F7-9EED-F160C1976FA7}"/>
              </a:ext>
            </a:extLst>
          </p:cNvPr>
          <p:cNvSpPr>
            <a:spLocks noGrp="1"/>
          </p:cNvSpPr>
          <p:nvPr/>
        </p:nvSpPr>
        <p:spPr>
          <a:xfrm>
            <a:off x="8324850" y="323850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E6174A-1E49-4550-80D3-B08F8F5C19FD}"/>
              </a:ext>
            </a:extLst>
          </p:cNvPr>
          <p:cNvSpPr>
            <a:spLocks noGrp="1"/>
          </p:cNvSpPr>
          <p:nvPr/>
        </p:nvSpPr>
        <p:spPr>
          <a:xfrm>
            <a:off x="8515350" y="31623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category_impact_limits</a:t>
            </a:r>
            <a:endParaRPr lang="en-US" sz="1125" b="0" noProof="0" dirty="0">
              <a:solidFill>
                <a:srgbClr val="18222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83AD5B-81A4-4A35-9181-1E615986EDBE}"/>
              </a:ext>
            </a:extLst>
          </p:cNvPr>
          <p:cNvSpPr>
            <a:spLocks noGrp="1"/>
          </p:cNvSpPr>
          <p:nvPr/>
        </p:nvSpPr>
        <p:spPr>
          <a:xfrm>
            <a:off x="8324850" y="363855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BF703D-2A8A-4EF3-83B8-0CF25DBD76DD}"/>
              </a:ext>
            </a:extLst>
          </p:cNvPr>
          <p:cNvSpPr>
            <a:spLocks noGrp="1"/>
          </p:cNvSpPr>
          <p:nvPr/>
        </p:nvSpPr>
        <p:spPr>
          <a:xfrm>
            <a:off x="8515350" y="3498552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cumulative_category_impact_limits</a:t>
            </a:r>
            <a:endParaRPr lang="en-US" sz="1125" b="0" noProof="0" dirty="0">
              <a:solidFill>
                <a:srgbClr val="18222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70F170-CFF7-4B2C-B44F-0855CC3290D2}"/>
              </a:ext>
            </a:extLst>
          </p:cNvPr>
          <p:cNvSpPr>
            <a:spLocks noGrp="1"/>
          </p:cNvSpPr>
          <p:nvPr/>
        </p:nvSpPr>
        <p:spPr>
          <a:xfrm>
            <a:off x="8324850" y="403860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576656-1827-4A72-83CA-27A95B3BD3DE}"/>
              </a:ext>
            </a:extLst>
          </p:cNvPr>
          <p:cNvSpPr>
            <a:spLocks noGrp="1"/>
          </p:cNvSpPr>
          <p:nvPr/>
        </p:nvSpPr>
        <p:spPr>
          <a:xfrm>
            <a:off x="8515350" y="39624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objective_category</a:t>
            </a:r>
            <a:r>
              <a:rPr lang="en-US" sz="112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still required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BAF107-8AE5-4B73-855F-78AA4834928B}"/>
              </a:ext>
            </a:extLst>
          </p:cNvPr>
          <p:cNvSpPr>
            <a:spLocks noGrp="1"/>
          </p:cNvSpPr>
          <p:nvPr/>
        </p:nvSpPr>
        <p:spPr>
          <a:xfrm>
            <a:off x="1238250" y="5124450"/>
            <a:ext cx="962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50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Interpretation: minimize monetary cost subject to the same physical, temporal and environmental model constraints.</a:t>
            </a:r>
          </a:p>
        </p:txBody>
      </p:sp>
    </p:spTree>
    <p:extLst>
      <p:ext uri="{BB962C8B-B14F-4D97-AF65-F5344CB8AC3E}">
        <p14:creationId xmlns:p14="http://schemas.microsoft.com/office/powerpoint/2010/main" val="1006898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DED57E8B-E214-4EB7-8B58-21A85BCCC1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4DAA75D-45BF-40F5-8E25-3F0B86685BE9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7BAF866-5865-427C-8460-91989111CA68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FE3C5-A894-4EB0-BE66-FF1D08F1D9D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Tests cover the economics helper, pipeline mapping and objective behavior.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178011-6805-4AAB-A79F-02FD397CD292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F5DB22-FC05-4896-9A34-B0214EEE84CC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Source: tests/test_economics.py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F8BA4C-9F6B-4B70-9680-49CB96C8DB37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ACE988-EF7F-434D-BBAC-F9DD1EDBEAE4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971800" cy="40005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B1A0F4-15D4-4AD0-982F-6342915B0B59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152713-F9D0-4186-8BB2-F346BC3C375B}"/>
              </a:ext>
            </a:extLst>
          </p:cNvPr>
          <p:cNvSpPr>
            <a:spLocks noGrp="1"/>
          </p:cNvSpPr>
          <p:nvPr/>
        </p:nvSpPr>
        <p:spPr>
          <a:xfrm>
            <a:off x="3638550" y="1809750"/>
            <a:ext cx="5349240" cy="40005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84897-12AB-477C-9600-E70C3AFE6ED9}"/>
              </a:ext>
            </a:extLst>
          </p:cNvPr>
          <p:cNvSpPr>
            <a:spLocks noGrp="1"/>
          </p:cNvSpPr>
          <p:nvPr/>
        </p:nvSpPr>
        <p:spPr>
          <a:xfrm>
            <a:off x="3771900" y="1924050"/>
            <a:ext cx="508254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What is covered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656ECB-EA40-4FE0-A29E-2C8392684841}"/>
              </a:ext>
            </a:extLst>
          </p:cNvPr>
          <p:cNvSpPr>
            <a:spLocks noGrp="1"/>
          </p:cNvSpPr>
          <p:nvPr/>
        </p:nvSpPr>
        <p:spPr>
          <a:xfrm>
            <a:off x="8987790" y="1809750"/>
            <a:ext cx="1584960" cy="40005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379849-A2CA-4BA3-8613-04BBD3860076}"/>
              </a:ext>
            </a:extLst>
          </p:cNvPr>
          <p:cNvSpPr>
            <a:spLocks noGrp="1"/>
          </p:cNvSpPr>
          <p:nvPr/>
        </p:nvSpPr>
        <p:spPr>
          <a:xfrm>
            <a:off x="9121140" y="1924050"/>
            <a:ext cx="13182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AEF463-618C-45AC-A79A-3E38FEE31485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297180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2498E-9593-445D-B0AD-30BB30552260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set_market_prices()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355A6B-C5EB-4F67-9936-2AD49422EA26}"/>
              </a:ext>
            </a:extLst>
          </p:cNvPr>
          <p:cNvSpPr>
            <a:spLocks noGrp="1"/>
          </p:cNvSpPr>
          <p:nvPr/>
        </p:nvSpPr>
        <p:spPr>
          <a:xfrm>
            <a:off x="3638550" y="2209800"/>
            <a:ext cx="534924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053AD4-E24E-4901-B5D6-7ADDFBC7C50A}"/>
              </a:ext>
            </a:extLst>
          </p:cNvPr>
          <p:cNvSpPr>
            <a:spLocks noGrp="1"/>
          </p:cNvSpPr>
          <p:nvPr/>
        </p:nvSpPr>
        <p:spPr>
          <a:xfrm>
            <a:off x="3771900" y="2305050"/>
            <a:ext cx="508254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list/</a:t>
            </a:r>
            <a:r>
              <a:rPr lang="en-US" sz="1050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dict</a:t>
            </a: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, </a:t>
            </a:r>
            <a:r>
              <a:rPr lang="en-US" sz="1050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DataFrame</a:t>
            </a: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, custom columns, product/unit lookup, overwrite, strict errors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E0AC21-8704-4D27-8272-16C14DC1EE61}"/>
              </a:ext>
            </a:extLst>
          </p:cNvPr>
          <p:cNvSpPr>
            <a:spLocks noGrp="1"/>
          </p:cNvSpPr>
          <p:nvPr/>
        </p:nvSpPr>
        <p:spPr>
          <a:xfrm>
            <a:off x="8987790" y="2209800"/>
            <a:ext cx="158496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C4257E-A0C4-4C20-9B01-0B3E2BC2E974}"/>
              </a:ext>
            </a:extLst>
          </p:cNvPr>
          <p:cNvSpPr>
            <a:spLocks noGrp="1"/>
          </p:cNvSpPr>
          <p:nvPr/>
        </p:nvSpPr>
        <p:spPr>
          <a:xfrm>
            <a:off x="9121140" y="2305050"/>
            <a:ext cx="13182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input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9E36D4-9D91-4732-B4A0-95134C5F77D1}"/>
              </a:ext>
            </a:extLst>
          </p:cNvPr>
          <p:cNvSpPr>
            <a:spLocks noGrp="1"/>
          </p:cNvSpPr>
          <p:nvPr/>
        </p:nvSpPr>
        <p:spPr>
          <a:xfrm>
            <a:off x="666750" y="2609850"/>
            <a:ext cx="297180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C103A5-EDA3-4761-BA30-9B1D37F05EC5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Processor mapping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184789-18E7-43F5-8F2B-A00B48D36191}"/>
              </a:ext>
            </a:extLst>
          </p:cNvPr>
          <p:cNvSpPr>
            <a:spLocks noGrp="1"/>
          </p:cNvSpPr>
          <p:nvPr/>
        </p:nvSpPr>
        <p:spPr>
          <a:xfrm>
            <a:off x="3638550" y="2609850"/>
            <a:ext cx="534924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E3FC55-58BE-4552-A0EE-1BAC806B0A0A}"/>
              </a:ext>
            </a:extLst>
          </p:cNvPr>
          <p:cNvSpPr>
            <a:spLocks noGrp="1"/>
          </p:cNvSpPr>
          <p:nvPr/>
        </p:nvSpPr>
        <p:spPr>
          <a:xfrm>
            <a:off x="3771900" y="2705100"/>
            <a:ext cx="508254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market_price</a:t>
            </a: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read, interpolation to SYSTEM_TIME, metadata fallback when codes differ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F34FA0-DFE4-417C-897E-55B85241E6E1}"/>
              </a:ext>
            </a:extLst>
          </p:cNvPr>
          <p:cNvSpPr>
            <a:spLocks noGrp="1"/>
          </p:cNvSpPr>
          <p:nvPr/>
        </p:nvSpPr>
        <p:spPr>
          <a:xfrm>
            <a:off x="8987790" y="2609850"/>
            <a:ext cx="158496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28211-CBD5-4B98-9940-1A50000B1991}"/>
              </a:ext>
            </a:extLst>
          </p:cNvPr>
          <p:cNvSpPr>
            <a:spLocks noGrp="1"/>
          </p:cNvSpPr>
          <p:nvPr/>
        </p:nvSpPr>
        <p:spPr>
          <a:xfrm>
            <a:off x="9121140" y="2705100"/>
            <a:ext cx="13182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data flow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E79BB2-4097-41E6-AE71-D3ED2426F5C3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297180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A36DDC-0FDD-426F-8E60-644CDBD4F9CF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CAP / OP split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66F7A5-BB12-46B1-BBA9-F3178E3BA3EF}"/>
              </a:ext>
            </a:extLst>
          </p:cNvPr>
          <p:cNvSpPr>
            <a:spLocks noGrp="1"/>
          </p:cNvSpPr>
          <p:nvPr/>
        </p:nvSpPr>
        <p:spPr>
          <a:xfrm>
            <a:off x="3638550" y="3009900"/>
            <a:ext cx="534924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7A4F7E-81DF-4657-8B9A-6ABB1AB93AF4}"/>
              </a:ext>
            </a:extLst>
          </p:cNvPr>
          <p:cNvSpPr>
            <a:spLocks noGrp="1"/>
          </p:cNvSpPr>
          <p:nvPr/>
        </p:nvSpPr>
        <p:spPr>
          <a:xfrm>
            <a:off x="3771900" y="3105150"/>
            <a:ext cx="508254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operation=True maps to op costs; non-operation maps to cap costs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6539DC-1A93-456D-A482-BF2AC7DCC2FE}"/>
              </a:ext>
            </a:extLst>
          </p:cNvPr>
          <p:cNvSpPr>
            <a:spLocks noGrp="1"/>
          </p:cNvSpPr>
          <p:nvPr/>
        </p:nvSpPr>
        <p:spPr>
          <a:xfrm>
            <a:off x="8987790" y="3009900"/>
            <a:ext cx="158496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577C3A-0BB2-4783-A0A3-9E15CA0BA8CE}"/>
              </a:ext>
            </a:extLst>
          </p:cNvPr>
          <p:cNvSpPr>
            <a:spLocks noGrp="1"/>
          </p:cNvSpPr>
          <p:nvPr/>
        </p:nvSpPr>
        <p:spPr>
          <a:xfrm>
            <a:off x="9121140" y="3105150"/>
            <a:ext cx="13182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accounting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D8CAF2-272E-4BC0-AA9F-6414DEFB0B78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297180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AE54F9-F84B-4DF9-A564-3ECE1567D8D4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Serialization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8EB6CE-2EBA-4127-969B-60CDE8008C85}"/>
              </a:ext>
            </a:extLst>
          </p:cNvPr>
          <p:cNvSpPr>
            <a:spLocks noGrp="1"/>
          </p:cNvSpPr>
          <p:nvPr/>
        </p:nvSpPr>
        <p:spPr>
          <a:xfrm>
            <a:off x="3638550" y="3409950"/>
            <a:ext cx="534924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6CCAAB-C2C6-4D7B-8898-C5386CF01BB7}"/>
              </a:ext>
            </a:extLst>
          </p:cNvPr>
          <p:cNvSpPr>
            <a:spLocks noGrp="1"/>
          </p:cNvSpPr>
          <p:nvPr/>
        </p:nvSpPr>
        <p:spPr>
          <a:xfrm>
            <a:off x="3771900" y="3505200"/>
            <a:ext cx="508254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tuple-key roundtrip for new cost dictionaries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D47ABE-C3C6-403B-84F6-A442B21F5F23}"/>
              </a:ext>
            </a:extLst>
          </p:cNvPr>
          <p:cNvSpPr>
            <a:spLocks noGrp="1"/>
          </p:cNvSpPr>
          <p:nvPr/>
        </p:nvSpPr>
        <p:spPr>
          <a:xfrm>
            <a:off x="8987790" y="3409950"/>
            <a:ext cx="158496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34461A-7287-4C4F-8360-8E3F41B79400}"/>
              </a:ext>
            </a:extLst>
          </p:cNvPr>
          <p:cNvSpPr>
            <a:spLocks noGrp="1"/>
          </p:cNvSpPr>
          <p:nvPr/>
        </p:nvSpPr>
        <p:spPr>
          <a:xfrm>
            <a:off x="9121140" y="3505200"/>
            <a:ext cx="13182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08BC18-504B-4032-9EF4-F5B8757A76CC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297180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7EA2DB-D2A5-4BD3-BE6E-1BC8F1727504}"/>
              </a:ext>
            </a:extLst>
          </p:cNvPr>
          <p:cNvSpPr>
            <a:spLocks noGrp="1"/>
          </p:cNvSpPr>
          <p:nvPr/>
        </p:nvSpPr>
        <p:spPr>
          <a:xfrm>
            <a:off x="800100" y="390525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Pyomo</a:t>
            </a: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 expressions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36D897-3326-43A6-BA74-AE1C44FB9B03}"/>
              </a:ext>
            </a:extLst>
          </p:cNvPr>
          <p:cNvSpPr>
            <a:spLocks noGrp="1"/>
          </p:cNvSpPr>
          <p:nvPr/>
        </p:nvSpPr>
        <p:spPr>
          <a:xfrm>
            <a:off x="3638550" y="3810000"/>
            <a:ext cx="534924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A7DD2A-ACA0-488A-A9AA-40EB3251A205}"/>
              </a:ext>
            </a:extLst>
          </p:cNvPr>
          <p:cNvSpPr>
            <a:spLocks noGrp="1"/>
          </p:cNvSpPr>
          <p:nvPr/>
        </p:nvSpPr>
        <p:spPr>
          <a:xfrm>
            <a:off x="3771900" y="3905250"/>
            <a:ext cx="508254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purchase quantities, </a:t>
            </a:r>
            <a:r>
              <a:rPr lang="en-US" sz="1050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cost_cap</a:t>
            </a: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/op and </a:t>
            </a:r>
            <a:r>
              <a:rPr lang="en-US" sz="1050" b="0" noProof="0" dirty="0" err="1">
                <a:solidFill>
                  <a:srgbClr val="182225"/>
                </a:solidFill>
                <a:latin typeface="Aptos"/>
                <a:ea typeface="Aptos"/>
                <a:cs typeface="Aptos"/>
              </a:rPr>
              <a:t>discount_factor</a:t>
            </a:r>
            <a:endParaRPr lang="en-US" sz="1050" b="0" noProof="0" dirty="0">
              <a:solidFill>
                <a:srgbClr val="18222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1B39D75-CEC1-4D66-842A-56C4A17BA46A}"/>
              </a:ext>
            </a:extLst>
          </p:cNvPr>
          <p:cNvSpPr>
            <a:spLocks noGrp="1"/>
          </p:cNvSpPr>
          <p:nvPr/>
        </p:nvSpPr>
        <p:spPr>
          <a:xfrm>
            <a:off x="8987790" y="3810000"/>
            <a:ext cx="158496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D61EED-3104-42F8-9276-6DA4AA01855C}"/>
              </a:ext>
            </a:extLst>
          </p:cNvPr>
          <p:cNvSpPr>
            <a:spLocks noGrp="1"/>
          </p:cNvSpPr>
          <p:nvPr/>
        </p:nvSpPr>
        <p:spPr>
          <a:xfrm>
            <a:off x="9121140" y="3905250"/>
            <a:ext cx="13182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math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E847F4-A263-486C-8CBE-1A230D516CE7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97180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B1862BE-A493-44CB-BC81-00FF25D5446E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Objective + solve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856E049-120D-49A4-96CC-C7DA681E3227}"/>
              </a:ext>
            </a:extLst>
          </p:cNvPr>
          <p:cNvSpPr>
            <a:spLocks noGrp="1"/>
          </p:cNvSpPr>
          <p:nvPr/>
        </p:nvSpPr>
        <p:spPr>
          <a:xfrm>
            <a:off x="3638550" y="4210050"/>
            <a:ext cx="534924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C6E1D1-0FF6-4AF2-9D1A-87250448EB39}"/>
              </a:ext>
            </a:extLst>
          </p:cNvPr>
          <p:cNvSpPr>
            <a:spLocks noGrp="1"/>
          </p:cNvSpPr>
          <p:nvPr/>
        </p:nvSpPr>
        <p:spPr>
          <a:xfrm>
            <a:off x="3771900" y="4305300"/>
            <a:ext cx="508254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objective="cost", environmental budget constraints, no cost denormalization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13B0B78-3163-4129-BF54-DB83A15A77A2}"/>
              </a:ext>
            </a:extLst>
          </p:cNvPr>
          <p:cNvSpPr>
            <a:spLocks noGrp="1"/>
          </p:cNvSpPr>
          <p:nvPr/>
        </p:nvSpPr>
        <p:spPr>
          <a:xfrm>
            <a:off x="8987790" y="4210050"/>
            <a:ext cx="1584960" cy="4000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198DB9-F08D-4A08-9BE2-DFE262AE15B1}"/>
              </a:ext>
            </a:extLst>
          </p:cNvPr>
          <p:cNvSpPr>
            <a:spLocks noGrp="1"/>
          </p:cNvSpPr>
          <p:nvPr/>
        </p:nvSpPr>
        <p:spPr>
          <a:xfrm>
            <a:off x="9121140" y="4305300"/>
            <a:ext cx="13182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solver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42454B2-ABF2-4993-A653-8BA6C6E3A3BF}"/>
              </a:ext>
            </a:extLst>
          </p:cNvPr>
          <p:cNvSpPr>
            <a:spLocks noGrp="1"/>
          </p:cNvSpPr>
          <p:nvPr/>
        </p:nvSpPr>
        <p:spPr>
          <a:xfrm>
            <a:off x="7981950" y="4972050"/>
            <a:ext cx="2590800" cy="514350"/>
          </a:xfrm>
          <a:prstGeom prst="rect">
            <a:avLst/>
          </a:prstGeom>
          <a:solidFill>
            <a:srgbClr val="EFE0D6"/>
          </a:solidFill>
          <a:ln w="9525">
            <a:solidFill>
              <a:srgbClr val="EFE0D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43E8EF4-15EE-4607-9DAC-DEFF2DA4A33A}"/>
              </a:ext>
            </a:extLst>
          </p:cNvPr>
          <p:cNvSpPr>
            <a:spLocks noGrp="1"/>
          </p:cNvSpPr>
          <p:nvPr/>
        </p:nvSpPr>
        <p:spPr>
          <a:xfrm>
            <a:off x="8063907" y="51054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65F3B"/>
                </a:solidFill>
                <a:latin typeface="Aptos"/>
                <a:ea typeface="Aptos"/>
                <a:cs typeface="Aptos"/>
              </a:defRPr>
            </a:pPr>
            <a:r>
              <a:rPr lang="en-US" sz="975" b="0" noProof="0" dirty="0">
                <a:solidFill>
                  <a:srgbClr val="A65F3B"/>
                </a:solidFill>
                <a:latin typeface="Aptos"/>
                <a:ea typeface="Aptos"/>
                <a:cs typeface="Aptos"/>
              </a:rPr>
              <a:t>Remaining test gap from roadmap: full local execution/interpretation of the cost notebook.</a:t>
            </a:r>
          </a:p>
        </p:txBody>
      </p:sp>
    </p:spTree>
    <p:extLst>
      <p:ext uri="{BB962C8B-B14F-4D97-AF65-F5344CB8AC3E}">
        <p14:creationId xmlns:p14="http://schemas.microsoft.com/office/powerpoint/2010/main" val="63345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D95610E-F32E-469E-B51B-43F4DA4526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486E2D6-4764-4404-AF21-30C45A24BB43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C4B0FD2-C61B-47E1-B2BC-A6D1427AED07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DOCUMENTATION AND 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862BD-2924-4CAC-A74A-34A2A182F66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The economic extension is documented as an optimex capability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0925FF-EB69-432C-B1A7-61341BC1AE91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DCE02D-3D72-4C8A-BA47-CB567F9A65CB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Sources: docs/content/economic_optimization.md; docs/</a:t>
            </a:r>
            <a:r>
              <a:rPr lang="en-US" sz="75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api</a:t>
            </a: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/optimizer.md; 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D3135F-2C63-45DD-9BDD-331E24BA260A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AF729-CAE3-4690-8D97-FC8883DEDC66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497455" cy="53340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3BAFFA-83B8-4171-B3E2-3D0F4E209DB3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223075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12E232-85FE-43F0-90C2-0D1494E0804F}"/>
              </a:ext>
            </a:extLst>
          </p:cNvPr>
          <p:cNvSpPr>
            <a:spLocks noGrp="1"/>
          </p:cNvSpPr>
          <p:nvPr/>
        </p:nvSpPr>
        <p:spPr>
          <a:xfrm>
            <a:off x="3183255" y="1924050"/>
            <a:ext cx="4074795" cy="53340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7A4BE3-7EF7-4E25-A634-EE2B9369D28D}"/>
              </a:ext>
            </a:extLst>
          </p:cNvPr>
          <p:cNvSpPr>
            <a:spLocks noGrp="1"/>
          </p:cNvSpPr>
          <p:nvPr/>
        </p:nvSpPr>
        <p:spPr>
          <a:xfrm>
            <a:off x="3316605" y="2038350"/>
            <a:ext cx="380809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What it now explains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3E3243-8866-4EFD-B030-9593FC811B5A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497455" cy="5334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08B11E-35CD-4590-9FA1-C1BF9878329E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223075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economic_optimization.md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41C80C-EA1D-4AC1-94DC-DFB34D3FCF91}"/>
              </a:ext>
            </a:extLst>
          </p:cNvPr>
          <p:cNvSpPr>
            <a:spLocks noGrp="1"/>
          </p:cNvSpPr>
          <p:nvPr/>
        </p:nvSpPr>
        <p:spPr>
          <a:xfrm>
            <a:off x="3183255" y="2457450"/>
            <a:ext cx="4074795" cy="5334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23482C-CE36-4D66-9F77-894BA7F1016A}"/>
              </a:ext>
            </a:extLst>
          </p:cNvPr>
          <p:cNvSpPr>
            <a:spLocks noGrp="1"/>
          </p:cNvSpPr>
          <p:nvPr/>
        </p:nvSpPr>
        <p:spPr>
          <a:xfrm>
            <a:off x="3316605" y="2552700"/>
            <a:ext cx="380809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concept, set_market_prices, cap/op accounting, cost expressions, constraints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57B75B-3590-4F0C-9895-CF9A5348226C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2497455" cy="53340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203002-2508-479D-B244-752FBDF65F97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223075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docs/api/optimizer.md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573C79-72A1-4824-AA45-5380C702E41E}"/>
              </a:ext>
            </a:extLst>
          </p:cNvPr>
          <p:cNvSpPr>
            <a:spLocks noGrp="1"/>
          </p:cNvSpPr>
          <p:nvPr/>
        </p:nvSpPr>
        <p:spPr>
          <a:xfrm>
            <a:off x="3183255" y="2990850"/>
            <a:ext cx="4074795" cy="53340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4A55E6-39BA-448E-8D84-00F89B84381F}"/>
              </a:ext>
            </a:extLst>
          </p:cNvPr>
          <p:cNvSpPr>
            <a:spLocks noGrp="1"/>
          </p:cNvSpPr>
          <p:nvPr/>
        </p:nvSpPr>
        <p:spPr>
          <a:xfrm>
            <a:off x="3316605" y="3086100"/>
            <a:ext cx="380809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objective modes, cost-related expressions, scaling convention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FC2D0-0036-40A4-BFE4-3B88A7B28A74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497455" cy="5334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BC915-1135-479D-B73A-1029F9256F28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223075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CBE164-6642-4AE6-9B12-A0331506DBC8}"/>
              </a:ext>
            </a:extLst>
          </p:cNvPr>
          <p:cNvSpPr>
            <a:spLocks noGrp="1"/>
          </p:cNvSpPr>
          <p:nvPr/>
        </p:nvSpPr>
        <p:spPr>
          <a:xfrm>
            <a:off x="3183255" y="3524250"/>
            <a:ext cx="4074795" cy="5334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A7C2B0-E165-4784-9384-D3596B206A2C}"/>
              </a:ext>
            </a:extLst>
          </p:cNvPr>
          <p:cNvSpPr>
            <a:spLocks noGrp="1"/>
          </p:cNvSpPr>
          <p:nvPr/>
        </p:nvSpPr>
        <p:spPr>
          <a:xfrm>
            <a:off x="3316605" y="3619500"/>
            <a:ext cx="380809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implementation checklist, open items, later extensions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08056C-2899-4BEC-ABB8-B935AFE7BD92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2497455" cy="53340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A084D3-851A-402B-902B-4A55EDA2D80E}"/>
              </a:ext>
            </a:extLst>
          </p:cNvPr>
          <p:cNvSpPr>
            <a:spLocks noGrp="1"/>
          </p:cNvSpPr>
          <p:nvPr/>
        </p:nvSpPr>
        <p:spPr>
          <a:xfrm>
            <a:off x="819150" y="4152900"/>
            <a:ext cx="223075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notebook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4EC3B1-C4D0-4774-AFB2-3AD3174AE663}"/>
              </a:ext>
            </a:extLst>
          </p:cNvPr>
          <p:cNvSpPr>
            <a:spLocks noGrp="1"/>
          </p:cNvSpPr>
          <p:nvPr/>
        </p:nvSpPr>
        <p:spPr>
          <a:xfrm>
            <a:off x="3183255" y="4057650"/>
            <a:ext cx="4074795" cy="53340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1199D4-96E1-48A8-A70E-B19D0CE09B67}"/>
              </a:ext>
            </a:extLst>
          </p:cNvPr>
          <p:cNvSpPr>
            <a:spLocks noGrp="1"/>
          </p:cNvSpPr>
          <p:nvPr/>
        </p:nvSpPr>
        <p:spPr>
          <a:xfrm>
            <a:off x="3316605" y="4152900"/>
            <a:ext cx="380809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worked E2E example path for methanol and pig iron case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57097B-F7A8-4E6A-A602-9063FA264066}"/>
              </a:ext>
            </a:extLst>
          </p:cNvPr>
          <p:cNvSpPr>
            <a:spLocks noGrp="1"/>
          </p:cNvSpPr>
          <p:nvPr/>
        </p:nvSpPr>
        <p:spPr>
          <a:xfrm>
            <a:off x="7886700" y="2038350"/>
            <a:ext cx="2857500" cy="2781300"/>
          </a:xfrm>
          <a:prstGeom prst="rect">
            <a:avLst/>
          </a:prstGeom>
          <a:solidFill>
            <a:srgbClr val="DDE7DF"/>
          </a:solidFill>
          <a:ln w="9525">
            <a:solidFill>
              <a:srgbClr val="DDE7D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BCF00-CB94-49F5-9503-2B97978D0CD3}"/>
              </a:ext>
            </a:extLst>
          </p:cNvPr>
          <p:cNvSpPr>
            <a:spLocks noGrp="1"/>
          </p:cNvSpPr>
          <p:nvPr/>
        </p:nvSpPr>
        <p:spPr>
          <a:xfrm>
            <a:off x="8153400" y="23622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E4D5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650" b="1" noProof="0" dirty="0">
                <a:solidFill>
                  <a:srgbClr val="1E4D51"/>
                </a:solidFill>
                <a:latin typeface="Aptos Display"/>
                <a:ea typeface="Aptos Display"/>
                <a:cs typeface="Aptos Display"/>
              </a:rPr>
              <a:t>Product-readiness direction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4E8F1B-08A2-4B7A-8DB7-5E8C548684BF}"/>
              </a:ext>
            </a:extLst>
          </p:cNvPr>
          <p:cNvSpPr>
            <a:spLocks noGrp="1"/>
          </p:cNvSpPr>
          <p:nvPr/>
        </p:nvSpPr>
        <p:spPr>
          <a:xfrm>
            <a:off x="8153400" y="320040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3167F6-803F-4923-AE26-963640827824}"/>
              </a:ext>
            </a:extLst>
          </p:cNvPr>
          <p:cNvSpPr>
            <a:spLocks noGrp="1"/>
          </p:cNvSpPr>
          <p:nvPr/>
        </p:nvSpPr>
        <p:spPr>
          <a:xfrm>
            <a:off x="8343900" y="312420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backward-compatible environmental default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631733-7D75-4EF7-BFB4-0777A6219411}"/>
              </a:ext>
            </a:extLst>
          </p:cNvPr>
          <p:cNvSpPr>
            <a:spLocks noGrp="1"/>
          </p:cNvSpPr>
          <p:nvPr/>
        </p:nvSpPr>
        <p:spPr>
          <a:xfrm>
            <a:off x="8153400" y="360045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FD11B-D6F5-4522-AE0A-7BCC905272C9}"/>
              </a:ext>
            </a:extLst>
          </p:cNvPr>
          <p:cNvSpPr>
            <a:spLocks noGrp="1"/>
          </p:cNvSpPr>
          <p:nvPr/>
        </p:nvSpPr>
        <p:spPr>
          <a:xfrm>
            <a:off x="8343900" y="3545516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documented cost objective path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6F3EBF-823C-437B-BB54-0920EB1169BC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F2CCE6-8BA8-4EA3-8C97-A066221DC9B7}"/>
              </a:ext>
            </a:extLst>
          </p:cNvPr>
          <p:cNvSpPr>
            <a:spLocks noGrp="1"/>
          </p:cNvSpPr>
          <p:nvPr/>
        </p:nvSpPr>
        <p:spPr>
          <a:xfrm>
            <a:off x="8343900" y="3956199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tests target production behavior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7427B7-13D1-451B-8618-12776808C194}"/>
              </a:ext>
            </a:extLst>
          </p:cNvPr>
          <p:cNvSpPr>
            <a:spLocks noGrp="1"/>
          </p:cNvSpPr>
          <p:nvPr/>
        </p:nvSpPr>
        <p:spPr>
          <a:xfrm>
            <a:off x="8153400" y="4400550"/>
            <a:ext cx="66675" cy="66675"/>
          </a:xfrm>
          <a:prstGeom prst="rect">
            <a:avLst/>
          </a:prstGeom>
          <a:solidFill>
            <a:srgbClr val="1E4D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B45ADC-8E05-400A-A086-70DF349E0FAE}"/>
              </a:ext>
            </a:extLst>
          </p:cNvPr>
          <p:cNvSpPr>
            <a:spLocks noGrp="1"/>
          </p:cNvSpPr>
          <p:nvPr/>
        </p:nvSpPr>
        <p:spPr>
          <a:xfrm>
            <a:off x="8343900" y="4345616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open roadmap items are explicit</a:t>
            </a:r>
          </a:p>
        </p:txBody>
      </p:sp>
    </p:spTree>
    <p:extLst>
      <p:ext uri="{BB962C8B-B14F-4D97-AF65-F5344CB8AC3E}">
        <p14:creationId xmlns:p14="http://schemas.microsoft.com/office/powerpoint/2010/main" val="2139403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8B8A598-22DD-4E18-9F05-EC2752161F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D594BD1-26BE-4FFC-BC24-DFBF768F05AF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F1388F5-44FC-40B3-B605-B8E6AC8BF722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END-TO-END VALIDATION NOTEBOOK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4F5DD-8FF3-4E6D-8F76-6F2D87B3154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The methanol/pig iron case now exercises the cost pipeline with illustrative prices.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A0D666-4894-425D-8B68-01A7712A073E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7AB1FD-3476-4B0A-9305-8AD8659F5191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Source: notebooks/</a:t>
            </a:r>
            <a:r>
              <a:rPr lang="en-US" sz="75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methanol_and_iron_cost.ipynb</a:t>
            </a: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; roadmap step 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A36C5-E2D2-4323-AE3F-80DB723F28E2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F90FC1-CFE0-4226-B91E-F5AFF946113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914650" cy="1123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17B350-0568-40B6-B9E9-694093BFEA33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7150" cy="11239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9800A8-31A6-4642-8977-3C037D689741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Adapted case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90FA2B-D3E9-43B2-8C32-5E7BB75A03D1}"/>
              </a:ext>
            </a:extLst>
          </p:cNvPr>
          <p:cNvSpPr>
            <a:spLocks noGrp="1"/>
          </p:cNvSpPr>
          <p:nvPr/>
        </p:nvSpPr>
        <p:spPr>
          <a:xfrm>
            <a:off x="857250" y="2505075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copied from </a:t>
            </a:r>
            <a:r>
              <a:rPr lang="en-US" sz="90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methanol_and_iron.ipynb</a:t>
            </a:r>
            <a:endParaRPr lang="en-US" sz="900" b="0" noProof="0" dirty="0">
              <a:solidFill>
                <a:srgbClr val="5E73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121737-5685-4C06-89DF-120DDDAE5457}"/>
              </a:ext>
            </a:extLst>
          </p:cNvPr>
          <p:cNvSpPr>
            <a:spLocks noGrp="1"/>
          </p:cNvSpPr>
          <p:nvPr/>
        </p:nvSpPr>
        <p:spPr>
          <a:xfrm>
            <a:off x="3686175" y="25146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2AFB54-0FEE-44F6-9677-13D06843B1FC}"/>
              </a:ext>
            </a:extLst>
          </p:cNvPr>
          <p:cNvSpPr>
            <a:spLocks noGrp="1"/>
          </p:cNvSpPr>
          <p:nvPr/>
        </p:nvSpPr>
        <p:spPr>
          <a:xfrm>
            <a:off x="4229100" y="2095500"/>
            <a:ext cx="2914650" cy="1123950"/>
          </a:xfrm>
          <a:prstGeom prst="rect">
            <a:avLst/>
          </a:prstGeom>
          <a:solidFill>
            <a:srgbClr val="EFE0D6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E30AEC-2060-488B-B70A-35502A5FCDC0}"/>
              </a:ext>
            </a:extLst>
          </p:cNvPr>
          <p:cNvSpPr>
            <a:spLocks noGrp="1"/>
          </p:cNvSpPr>
          <p:nvPr/>
        </p:nvSpPr>
        <p:spPr>
          <a:xfrm>
            <a:off x="4229100" y="2095500"/>
            <a:ext cx="57150" cy="1123950"/>
          </a:xfrm>
          <a:prstGeom prst="rect">
            <a:avLst/>
          </a:prstGeom>
          <a:solidFill>
            <a:srgbClr val="A65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6F568A-A80F-4C51-84BF-DB71B316D6F9}"/>
              </a:ext>
            </a:extLst>
          </p:cNvPr>
          <p:cNvSpPr>
            <a:spLocks noGrp="1"/>
          </p:cNvSpPr>
          <p:nvPr/>
        </p:nvSpPr>
        <p:spPr>
          <a:xfrm>
            <a:off x="4400550" y="2228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Illustrative prices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949DF0-2D0F-45FE-B802-E9353F3853BF}"/>
              </a:ext>
            </a:extLst>
          </p:cNvPr>
          <p:cNvSpPr>
            <a:spLocks noGrp="1"/>
          </p:cNvSpPr>
          <p:nvPr/>
        </p:nvSpPr>
        <p:spPr>
          <a:xfrm>
            <a:off x="4400550" y="2505075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price trends written to background nodes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9D6C48-C4B2-4D97-B8AB-47CFA78AE9BE}"/>
              </a:ext>
            </a:extLst>
          </p:cNvPr>
          <p:cNvSpPr>
            <a:spLocks noGrp="1"/>
          </p:cNvSpPr>
          <p:nvPr/>
        </p:nvSpPr>
        <p:spPr>
          <a:xfrm>
            <a:off x="7229475" y="25146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B1E63-BDB1-416D-BCF2-E19097B4BD11}"/>
              </a:ext>
            </a:extLst>
          </p:cNvPr>
          <p:cNvSpPr>
            <a:spLocks noGrp="1"/>
          </p:cNvSpPr>
          <p:nvPr/>
        </p:nvSpPr>
        <p:spPr>
          <a:xfrm>
            <a:off x="7772400" y="2095500"/>
            <a:ext cx="2914650" cy="1123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9EB0B-68B3-4FF6-BF99-1C9899E7060D}"/>
              </a:ext>
            </a:extLst>
          </p:cNvPr>
          <p:cNvSpPr>
            <a:spLocks noGrp="1"/>
          </p:cNvSpPr>
          <p:nvPr/>
        </p:nvSpPr>
        <p:spPr>
          <a:xfrm>
            <a:off x="7772400" y="2095500"/>
            <a:ext cx="57150" cy="11239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D5B360-C180-48A5-9395-C09FA423A133}"/>
              </a:ext>
            </a:extLst>
          </p:cNvPr>
          <p:cNvSpPr>
            <a:spLocks noGrp="1"/>
          </p:cNvSpPr>
          <p:nvPr/>
        </p:nvSpPr>
        <p:spPr>
          <a:xfrm>
            <a:off x="7943850" y="2228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Processor run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F18A2C-FB0C-42BB-861C-FA4CCC415241}"/>
              </a:ext>
            </a:extLst>
          </p:cNvPr>
          <p:cNvSpPr>
            <a:spLocks noGrp="1"/>
          </p:cNvSpPr>
          <p:nvPr/>
        </p:nvSpPr>
        <p:spPr>
          <a:xfrm>
            <a:off x="7943850" y="2505075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reads/interpolates costs into model inputs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6EDD42-5824-4B9F-95A9-626386932B3B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2914650" cy="1123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B4F2B8-3A6A-43CA-805E-9B3045644BE5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57150" cy="11239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77C2F7-1856-4044-963E-F2D31C8E4882}"/>
              </a:ext>
            </a:extLst>
          </p:cNvPr>
          <p:cNvSpPr>
            <a:spLocks noGrp="1"/>
          </p:cNvSpPr>
          <p:nvPr/>
        </p:nvSpPr>
        <p:spPr>
          <a:xfrm>
            <a:off x="857250" y="40576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Cost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F22C00-D6EE-45DD-B5D1-EE6D16B84ED3}"/>
              </a:ext>
            </a:extLst>
          </p:cNvPr>
          <p:cNvSpPr>
            <a:spLocks noGrp="1"/>
          </p:cNvSpPr>
          <p:nvPr/>
        </p:nvSpPr>
        <p:spPr>
          <a:xfrm>
            <a:off x="857250" y="4333875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0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create_model</a:t>
            </a: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(... objective="cost")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738762-2012-499F-890B-7F0352B73A5C}"/>
              </a:ext>
            </a:extLst>
          </p:cNvPr>
          <p:cNvSpPr>
            <a:spLocks noGrp="1"/>
          </p:cNvSpPr>
          <p:nvPr/>
        </p:nvSpPr>
        <p:spPr>
          <a:xfrm>
            <a:off x="3686175" y="43434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2D6F73"/>
                </a:solidFill>
                <a:latin typeface="Aptos"/>
                <a:ea typeface="Aptos"/>
                <a:cs typeface="Aptos"/>
              </a:defRPr>
            </a:pPr>
            <a:r>
              <a:rPr lang="en-US" sz="1950" b="1" noProof="0" dirty="0">
                <a:solidFill>
                  <a:srgbClr val="2D6F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44E31C-E12C-4EFC-8F77-802F17C54091}"/>
              </a:ext>
            </a:extLst>
          </p:cNvPr>
          <p:cNvSpPr>
            <a:spLocks noGrp="1"/>
          </p:cNvSpPr>
          <p:nvPr/>
        </p:nvSpPr>
        <p:spPr>
          <a:xfrm>
            <a:off x="4229100" y="3924300"/>
            <a:ext cx="2914650" cy="1123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532C2B-0BE8-47BD-81CB-1D229E6755FD}"/>
              </a:ext>
            </a:extLst>
          </p:cNvPr>
          <p:cNvSpPr>
            <a:spLocks noGrp="1"/>
          </p:cNvSpPr>
          <p:nvPr/>
        </p:nvSpPr>
        <p:spPr>
          <a:xfrm>
            <a:off x="4229100" y="3924300"/>
            <a:ext cx="57150" cy="11239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5180C3-A96D-4E5C-AA2A-EC1E912A1ADA}"/>
              </a:ext>
            </a:extLst>
          </p:cNvPr>
          <p:cNvSpPr>
            <a:spLocks noGrp="1"/>
          </p:cNvSpPr>
          <p:nvPr/>
        </p:nvSpPr>
        <p:spPr>
          <a:xfrm>
            <a:off x="4400550" y="40576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125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Results cells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97BE05-EA6D-4C25-A892-BACD8B240CA4}"/>
              </a:ext>
            </a:extLst>
          </p:cNvPr>
          <p:cNvSpPr>
            <a:spLocks noGrp="1"/>
          </p:cNvSpPr>
          <p:nvPr/>
        </p:nvSpPr>
        <p:spPr>
          <a:xfrm>
            <a:off x="4400550" y="4333875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90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total_cost</a:t>
            </a: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, </a:t>
            </a:r>
            <a:r>
              <a:rPr lang="en-US" sz="90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cost_cap</a:t>
            </a: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, </a:t>
            </a:r>
            <a:r>
              <a:rPr lang="en-US" sz="900" b="0" noProof="0" dirty="0" err="1">
                <a:solidFill>
                  <a:srgbClr val="5E7380"/>
                </a:solidFill>
                <a:latin typeface="Aptos"/>
                <a:ea typeface="Aptos"/>
                <a:cs typeface="Aptos"/>
              </a:rPr>
              <a:t>cost_op</a:t>
            </a:r>
            <a:r>
              <a:rPr lang="en-US" sz="90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 by year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560403-3427-48D1-9DF5-3228FA7FE317}"/>
              </a:ext>
            </a:extLst>
          </p:cNvPr>
          <p:cNvSpPr>
            <a:spLocks noGrp="1"/>
          </p:cNvSpPr>
          <p:nvPr/>
        </p:nvSpPr>
        <p:spPr>
          <a:xfrm>
            <a:off x="7734300" y="4171950"/>
            <a:ext cx="2724150" cy="1123950"/>
          </a:xfrm>
          <a:prstGeom prst="rect">
            <a:avLst/>
          </a:prstGeom>
          <a:solidFill>
            <a:srgbClr val="DCE6EA"/>
          </a:solidFill>
          <a:ln w="9525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5EB68E-111D-4B25-8314-A271FB7561C5}"/>
              </a:ext>
            </a:extLst>
          </p:cNvPr>
          <p:cNvSpPr>
            <a:spLocks noGrp="1"/>
          </p:cNvSpPr>
          <p:nvPr/>
        </p:nvSpPr>
        <p:spPr>
          <a:xfrm>
            <a:off x="7962900" y="44767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1350" b="1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Current validation status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F97738-C752-4D54-B953-B0B66CEED56F}"/>
              </a:ext>
            </a:extLst>
          </p:cNvPr>
          <p:cNvSpPr>
            <a:spLocks noGrp="1"/>
          </p:cNvSpPr>
          <p:nvPr/>
        </p:nvSpPr>
        <p:spPr>
          <a:xfrm>
            <a:off x="7962900" y="4772025"/>
            <a:ext cx="2209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975" b="0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E2E structure is in place; full local execution and result interpretation remain to be closed.</a:t>
            </a:r>
          </a:p>
        </p:txBody>
      </p:sp>
    </p:spTree>
    <p:extLst>
      <p:ext uri="{BB962C8B-B14F-4D97-AF65-F5344CB8AC3E}">
        <p14:creationId xmlns:p14="http://schemas.microsoft.com/office/powerpoint/2010/main" val="1813779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EE1E178-48F0-47A4-B80E-BF40A1499F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F1ECFC06-AAF1-4D67-AE6F-F6582B4BCF8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85725" cy="209550"/>
          </a:xfrm>
          <a:prstGeom prst="rect">
            <a:avLst/>
          </a:prstGeom>
          <a:solidFill>
            <a:srgbClr val="2D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14E537F-089D-4BA1-A0C5-483EC57B2953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1200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DISCUSSION POINTS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1060A-F980-4E3E-93B3-C15AD73C59F1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25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noProof="0" dirty="0">
                <a:solidFill>
                  <a:srgbClr val="182225"/>
                </a:solidFill>
                <a:latin typeface="Aptos Display"/>
                <a:ea typeface="Aptos Display"/>
                <a:cs typeface="Aptos Display"/>
              </a:rPr>
              <a:t>Supervisor input is needed on boundary choices and thesis presentation.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DC286-44AB-47E3-B378-6DFC67D2DE4E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858250" cy="13335"/>
          </a:xfrm>
          <a:prstGeom prst="rect">
            <a:avLst/>
          </a:prstGeom>
          <a:solidFill>
            <a:srgbClr val="D9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950204-C2D0-460E-8ED4-B204949D8379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750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Sources: roadmap optional/future sections; implementation notes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950BC6-159F-45CC-AA9B-842F6118881F}"/>
              </a:ext>
            </a:extLst>
          </p:cNvPr>
          <p:cNvSpPr>
            <a:spLocks noGrp="1"/>
          </p:cNvSpPr>
          <p:nvPr/>
        </p:nvSpPr>
        <p:spPr>
          <a:xfrm>
            <a:off x="11068050" y="633412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7380"/>
                </a:solidFill>
                <a:latin typeface="Aptos"/>
                <a:ea typeface="Aptos"/>
                <a:cs typeface="Aptos"/>
              </a:defRPr>
            </a:pPr>
            <a:r>
              <a:rPr lang="en-US" sz="825" b="0" noProof="0" dirty="0">
                <a:solidFill>
                  <a:srgbClr val="5E73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2C1379-C913-4925-A004-2DB5CB037D6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863590" cy="55245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849C77-49C9-43A0-993C-C2C810C18BC2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559689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Question for discussion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0A7A29-86E7-4490-AD45-911691A65A05}"/>
              </a:ext>
            </a:extLst>
          </p:cNvPr>
          <p:cNvSpPr>
            <a:spLocks noGrp="1"/>
          </p:cNvSpPr>
          <p:nvPr/>
        </p:nvSpPr>
        <p:spPr>
          <a:xfrm>
            <a:off x="6625590" y="1809750"/>
            <a:ext cx="4423410" cy="552450"/>
          </a:xfrm>
          <a:prstGeom prst="rect">
            <a:avLst/>
          </a:prstGeom>
          <a:solidFill>
            <a:srgbClr val="ECE7DD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0FB4D5-4CF2-468D-BAE1-446C4354FC09}"/>
              </a:ext>
            </a:extLst>
          </p:cNvPr>
          <p:cNvSpPr>
            <a:spLocks noGrp="1"/>
          </p:cNvSpPr>
          <p:nvPr/>
        </p:nvSpPr>
        <p:spPr>
          <a:xfrm>
            <a:off x="6758940" y="1924050"/>
            <a:ext cx="415671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4D51"/>
                </a:solidFill>
                <a:latin typeface="Aptos"/>
                <a:ea typeface="Aptos"/>
                <a:cs typeface="Aptos"/>
              </a:defRPr>
            </a:pPr>
            <a:r>
              <a:rPr lang="en-US" sz="975" b="1" noProof="0" dirty="0">
                <a:solidFill>
                  <a:srgbClr val="1E4D51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FCB2AD-70E4-4D2D-874D-9198E506A684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5863590" cy="5524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08BCD2-E959-459E-90EE-E61EA7A829DF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559689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Is node-based price input methodologically appropriate?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131879-F60F-465A-9F77-2A0CE84890E2}"/>
              </a:ext>
            </a:extLst>
          </p:cNvPr>
          <p:cNvSpPr>
            <a:spLocks noGrp="1"/>
          </p:cNvSpPr>
          <p:nvPr/>
        </p:nvSpPr>
        <p:spPr>
          <a:xfrm>
            <a:off x="6625590" y="2362200"/>
            <a:ext cx="4423410" cy="5524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162B71-CF20-47A9-A532-9DD10FD577EE}"/>
              </a:ext>
            </a:extLst>
          </p:cNvPr>
          <p:cNvSpPr>
            <a:spLocks noGrp="1"/>
          </p:cNvSpPr>
          <p:nvPr/>
        </p:nvSpPr>
        <p:spPr>
          <a:xfrm>
            <a:off x="6758940" y="2457450"/>
            <a:ext cx="415671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5F3B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A65F3B"/>
                </a:solidFill>
                <a:latin typeface="Aptos"/>
                <a:ea typeface="Aptos"/>
                <a:cs typeface="Aptos"/>
              </a:rPr>
              <a:t>Confirm price location on background nodes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B3A9CA-5969-4150-82BE-923B6236ED46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5863590" cy="5524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1E29A4-5954-4B56-AB00-2FFAC8E54D23}"/>
              </a:ext>
            </a:extLst>
          </p:cNvPr>
          <p:cNvSpPr>
            <a:spLocks noGrp="1"/>
          </p:cNvSpPr>
          <p:nvPr/>
        </p:nvSpPr>
        <p:spPr>
          <a:xfrm>
            <a:off x="895350" y="3009900"/>
            <a:ext cx="559689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Is first-level pricing the right cost boundary?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B0982F-582A-44B4-973C-ADC70E38AF03}"/>
              </a:ext>
            </a:extLst>
          </p:cNvPr>
          <p:cNvSpPr>
            <a:spLocks noGrp="1"/>
          </p:cNvSpPr>
          <p:nvPr/>
        </p:nvSpPr>
        <p:spPr>
          <a:xfrm>
            <a:off x="6625590" y="2914650"/>
            <a:ext cx="4423410" cy="5524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F8555A-8AD1-4C15-8AAF-43C6C6C615FE}"/>
              </a:ext>
            </a:extLst>
          </p:cNvPr>
          <p:cNvSpPr>
            <a:spLocks noGrp="1"/>
          </p:cNvSpPr>
          <p:nvPr/>
        </p:nvSpPr>
        <p:spPr>
          <a:xfrm>
            <a:off x="6758940" y="3009900"/>
            <a:ext cx="415671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5F3B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A65F3B"/>
                </a:solidFill>
                <a:latin typeface="Aptos"/>
                <a:ea typeface="Aptos"/>
                <a:cs typeface="Aptos"/>
              </a:rPr>
              <a:t>Accept or narrow/extend pricing scope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64E77B-44CE-4DF0-8983-BAC3DDC6D00D}"/>
              </a:ext>
            </a:extLst>
          </p:cNvPr>
          <p:cNvSpPr>
            <a:spLocks noGrp="1"/>
          </p:cNvSpPr>
          <p:nvPr/>
        </p:nvSpPr>
        <p:spPr>
          <a:xfrm>
            <a:off x="762000" y="3467100"/>
            <a:ext cx="5863590" cy="5524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1EECD9-589A-4B56-A66B-67E2E39F9EA6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559689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How strict should missing prices be?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631C81-8D45-4EDD-98AA-2E37CF98EDEC}"/>
              </a:ext>
            </a:extLst>
          </p:cNvPr>
          <p:cNvSpPr>
            <a:spLocks noGrp="1"/>
          </p:cNvSpPr>
          <p:nvPr/>
        </p:nvSpPr>
        <p:spPr>
          <a:xfrm>
            <a:off x="6625590" y="3467100"/>
            <a:ext cx="4423410" cy="5524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E21774-5632-4BD6-8224-CF43337E325B}"/>
              </a:ext>
            </a:extLst>
          </p:cNvPr>
          <p:cNvSpPr>
            <a:spLocks noGrp="1"/>
          </p:cNvSpPr>
          <p:nvPr/>
        </p:nvSpPr>
        <p:spPr>
          <a:xfrm>
            <a:off x="6758940" y="3562350"/>
            <a:ext cx="415671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5F3B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A65F3B"/>
                </a:solidFill>
                <a:latin typeface="Aptos"/>
                <a:ea typeface="Aptos"/>
                <a:cs typeface="Aptos"/>
              </a:rPr>
              <a:t>warning now; optional error mode later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C14244-FB94-462A-B661-ABE2EBBB57F9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5863590" cy="5524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DE46B8-4072-42E6-9EF6-29A20F2AD8DB}"/>
              </a:ext>
            </a:extLst>
          </p:cNvPr>
          <p:cNvSpPr>
            <a:spLocks noGrp="1"/>
          </p:cNvSpPr>
          <p:nvPr/>
        </p:nvSpPr>
        <p:spPr>
          <a:xfrm>
            <a:off x="895350" y="4114800"/>
            <a:ext cx="559689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How should premise code instability be handled long-term?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49AA7F-1819-400E-B77A-3887400756A7}"/>
              </a:ext>
            </a:extLst>
          </p:cNvPr>
          <p:cNvSpPr>
            <a:spLocks noGrp="1"/>
          </p:cNvSpPr>
          <p:nvPr/>
        </p:nvSpPr>
        <p:spPr>
          <a:xfrm>
            <a:off x="6625590" y="4019550"/>
            <a:ext cx="4423410" cy="552450"/>
          </a:xfrm>
          <a:prstGeom prst="rect">
            <a:avLst/>
          </a:prstGeom>
          <a:solidFill>
            <a:srgbClr val="FBF9F4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2BB717-0702-4D02-AFA7-53F36E0853A9}"/>
              </a:ext>
            </a:extLst>
          </p:cNvPr>
          <p:cNvSpPr>
            <a:spLocks noGrp="1"/>
          </p:cNvSpPr>
          <p:nvPr/>
        </p:nvSpPr>
        <p:spPr>
          <a:xfrm>
            <a:off x="6758940" y="4114800"/>
            <a:ext cx="415671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5F3B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A65F3B"/>
                </a:solidFill>
                <a:latin typeface="Aptos"/>
                <a:ea typeface="Aptos"/>
                <a:cs typeface="Aptos"/>
              </a:rPr>
              <a:t>metadata lookup, external price schema, or config layer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21FBB2-7BA4-42BA-ADA3-43EB6C693C7D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5863590" cy="5524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259EC2-607D-4DD6-A032-1CACA183E108}"/>
              </a:ext>
            </a:extLst>
          </p:cNvPr>
          <p:cNvSpPr>
            <a:spLocks noGrp="1"/>
          </p:cNvSpPr>
          <p:nvPr/>
        </p:nvSpPr>
        <p:spPr>
          <a:xfrm>
            <a:off x="895350" y="4667250"/>
            <a:ext cx="559689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82225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182225"/>
                </a:solidFill>
                <a:latin typeface="Aptos"/>
                <a:ea typeface="Aptos"/>
                <a:cs typeface="Aptos"/>
              </a:rPr>
              <a:t>Which result view belongs in the thesis?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87BA90-DD2A-4322-AD39-5E4EA771A143}"/>
              </a:ext>
            </a:extLst>
          </p:cNvPr>
          <p:cNvSpPr>
            <a:spLocks noGrp="1"/>
          </p:cNvSpPr>
          <p:nvPr/>
        </p:nvSpPr>
        <p:spPr>
          <a:xfrm>
            <a:off x="6625590" y="4572000"/>
            <a:ext cx="4423410" cy="5524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D8EC40-9890-4F6D-994D-7D6271846685}"/>
              </a:ext>
            </a:extLst>
          </p:cNvPr>
          <p:cNvSpPr>
            <a:spLocks noGrp="1"/>
          </p:cNvSpPr>
          <p:nvPr/>
        </p:nvSpPr>
        <p:spPr>
          <a:xfrm>
            <a:off x="6758940" y="4667250"/>
            <a:ext cx="415671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65F3B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A65F3B"/>
                </a:solidFill>
                <a:latin typeface="Aptos"/>
                <a:ea typeface="Aptos"/>
                <a:cs typeface="Aptos"/>
              </a:rPr>
              <a:t>total cost, cap/op split, pathway comparison, constraints</a:t>
            </a:r>
          </a:p>
        </p:txBody>
      </p:sp>
    </p:spTree>
    <p:extLst>
      <p:ext uri="{BB962C8B-B14F-4D97-AF65-F5344CB8AC3E}">
        <p14:creationId xmlns:p14="http://schemas.microsoft.com/office/powerpoint/2010/main" val="1933414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2043</Words>
  <Application>Microsoft Office PowerPoint</Application>
  <DocSecurity>0</DocSecurity>
  <PresentationFormat>Widescreen</PresentationFormat>
  <Paragraphs>263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 Lange</cp:lastModifiedBy>
  <cp:revision>4</cp:revision>
  <dcterms:created xsi:type="dcterms:W3CDTF">2026-06-10T15:12:46Z</dcterms:created>
  <dcterms:modified xsi:type="dcterms:W3CDTF">2026-06-11T11:31:45Z</dcterms:modified>
</cp:coreProperties>
</file>