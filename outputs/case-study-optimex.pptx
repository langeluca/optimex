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2AD357-D30A-4649-B174-0322B4DCA41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549F"/>
                </a:solidFill>
              </a:defRPr>
            </a:pPr>
            <a:r>
              <a:rPr sz="1800" b="1">
                <a:solidFill>
                  <a:srgbClr val="00549F"/>
                </a:solidFill>
              </a:rPr>
              <a:t>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89A5A1-3476-4DA6-812E-5B210145D16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Ökonomische Erweiterung von optimex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CCA3C7-9786-4C17-873B-ECC8463EE52C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904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Gedanken zur Struktur der Case Study und zu den Analyseperspektiven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924E79-6A36-472D-8727-BCCAF10FB843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3238500" cy="19050"/>
          </a:xfrm>
          <a:prstGeom prst="rect">
            <a:avLst/>
          </a:prstGeom>
          <a:solidFill>
            <a:srgbClr val="00549F"/>
          </a:solidFill>
          <a:ln w="0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C5CAFE-D276-4287-81C1-6AC05F7D1884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Übergeordnete Forschungsfrage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C43CCF-FAFC-47CE-B8AC-87D6A4605731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971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D293D"/>
                </a:solidFill>
              </a:defRPr>
            </a:pPr>
            <a:r>
              <a:rPr lang="de-DE" sz="1800" b="0" dirty="0">
                <a:solidFill>
                  <a:srgbClr val="1D293D"/>
                </a:solidFill>
              </a:rPr>
              <a:t>???????????????????</a:t>
            </a:r>
            <a:endParaRPr sz="1800" b="0" dirty="0">
              <a:solidFill>
                <a:srgbClr val="1D293D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5F789C-9475-4CCC-AB53-063D95C72BE8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Case Study optimex | 1</a:t>
            </a:r>
          </a:p>
        </p:txBody>
      </p:sp>
    </p:spTree>
    <p:extLst>
      <p:ext uri="{BB962C8B-B14F-4D97-AF65-F5344CB8AC3E}">
        <p14:creationId xmlns:p14="http://schemas.microsoft.com/office/powerpoint/2010/main" val="915123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1AE59F9-B19B-4D97-A0F4-8E7F418C007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AFEA0E-6544-4D6E-A44D-39B114D9AD1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Ausgangspunkt und Fokus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6E072-1607-427E-8A75-ADBD733BA099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95500" cy="19050"/>
          </a:xfrm>
          <a:prstGeom prst="rect">
            <a:avLst/>
          </a:prstGeom>
          <a:solidFill>
            <a:srgbClr val="00549F"/>
          </a:solidFill>
          <a:ln w="0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2F34CE-688F-48A8-95B8-D507B2ED8F17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Case Study optimex |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272969-5554-4B31-A623-D0D8ABB1B257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549F"/>
                </a:solidFill>
              </a:defRPr>
            </a:pPr>
            <a:r>
              <a:rPr sz="1725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3A7A4F-F2F9-4A87-BC4F-DB18AD641EC2}"/>
              </a:ext>
            </a:extLst>
          </p:cNvPr>
          <p:cNvSpPr>
            <a:spLocks noGrp="1"/>
          </p:cNvSpPr>
          <p:nvPr/>
        </p:nvSpPr>
        <p:spPr>
          <a:xfrm>
            <a:off x="1200150" y="2000250"/>
            <a:ext cx="996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D293D"/>
                </a:solidFill>
              </a:defRPr>
            </a:pPr>
            <a:r>
              <a:rPr lang="en-US" sz="1725" dirty="0" err="1">
                <a:solidFill>
                  <a:srgbClr val="1D293D"/>
                </a:solidFill>
              </a:rPr>
              <a:t>Bestimmung</a:t>
            </a:r>
            <a:r>
              <a:rPr lang="en-US" sz="1725" dirty="0">
                <a:solidFill>
                  <a:srgbClr val="1D293D"/>
                </a:solidFill>
              </a:rPr>
              <a:t> </a:t>
            </a:r>
            <a:r>
              <a:rPr lang="en-US" sz="1725" dirty="0" err="1">
                <a:solidFill>
                  <a:srgbClr val="1D293D"/>
                </a:solidFill>
              </a:rPr>
              <a:t>kostenoptimaler</a:t>
            </a:r>
            <a:r>
              <a:rPr lang="en-US" sz="1725" dirty="0">
                <a:solidFill>
                  <a:srgbClr val="1D293D"/>
                </a:solidFill>
              </a:rPr>
              <a:t> </a:t>
            </a:r>
            <a:r>
              <a:rPr lang="en-US" sz="1725" dirty="0" err="1">
                <a:solidFill>
                  <a:srgbClr val="1D293D"/>
                </a:solidFill>
              </a:rPr>
              <a:t>Transformationspfade</a:t>
            </a:r>
            <a:endParaRPr lang="en-US" sz="1725" dirty="0">
              <a:solidFill>
                <a:srgbClr val="1D293D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72B3F4-3BA6-4132-9256-6E0D8753464D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549F"/>
                </a:solidFill>
              </a:defRPr>
            </a:pPr>
            <a:r>
              <a:rPr sz="1725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BB6807-A137-4149-9475-0B55A0985A14}"/>
              </a:ext>
            </a:extLst>
          </p:cNvPr>
          <p:cNvSpPr>
            <a:spLocks noGrp="1"/>
          </p:cNvSpPr>
          <p:nvPr/>
        </p:nvSpPr>
        <p:spPr>
          <a:xfrm>
            <a:off x="1200150" y="2590800"/>
            <a:ext cx="996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D293D"/>
                </a:solidFill>
              </a:defRPr>
            </a:pPr>
            <a:r>
              <a:rPr lang="de-DE" sz="1725" dirty="0">
                <a:solidFill>
                  <a:srgbClr val="1D293D"/>
                </a:solidFill>
              </a:rPr>
              <a:t>Zusätzliche Analyse- und Entscheidungsmöglichkeiten durch die ökonomische Erweiterung von </a:t>
            </a:r>
            <a:r>
              <a:rPr lang="de-DE" sz="1725" dirty="0" err="1">
                <a:solidFill>
                  <a:srgbClr val="1D293D"/>
                </a:solidFill>
              </a:rPr>
              <a:t>optimex</a:t>
            </a:r>
            <a:endParaRPr lang="de-DE" sz="1725" dirty="0">
              <a:solidFill>
                <a:srgbClr val="1D293D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6C89BC-5596-4E1C-BA6B-29CD4A8C3A60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 dirty="0">
                <a:solidFill>
                  <a:srgbClr val="0F172B"/>
                </a:solidFill>
              </a:rPr>
              <a:t>Trade-offs, die </a:t>
            </a:r>
            <a:r>
              <a:rPr sz="1800" b="1" dirty="0" err="1">
                <a:solidFill>
                  <a:srgbClr val="0F172B"/>
                </a:solidFill>
              </a:rPr>
              <a:t>betrachtet</a:t>
            </a:r>
            <a:r>
              <a:rPr sz="1800" b="1" dirty="0">
                <a:solidFill>
                  <a:srgbClr val="0F172B"/>
                </a:solidFill>
              </a:rPr>
              <a:t> </a:t>
            </a:r>
            <a:r>
              <a:rPr sz="1800" b="1" dirty="0" err="1">
                <a:solidFill>
                  <a:srgbClr val="0F172B"/>
                </a:solidFill>
              </a:rPr>
              <a:t>werden</a:t>
            </a:r>
            <a:r>
              <a:rPr sz="1800" b="1" dirty="0">
                <a:solidFill>
                  <a:srgbClr val="0F172B"/>
                </a:solidFill>
              </a:rPr>
              <a:t> </a:t>
            </a:r>
            <a:r>
              <a:rPr sz="1800" b="1" dirty="0" err="1">
                <a:solidFill>
                  <a:srgbClr val="0F172B"/>
                </a:solidFill>
              </a:rPr>
              <a:t>sollen</a:t>
            </a:r>
            <a:endParaRPr sz="1800" b="1" dirty="0">
              <a:solidFill>
                <a:srgbClr val="0F172B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606F34-70F6-4CF2-B6A6-40F7E7DB08A5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549F"/>
                </a:solidFill>
              </a:defRPr>
            </a:pPr>
            <a:r>
              <a:rPr sz="1575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FFB7E-15CE-4FA6-B582-ACC2CFD4CB5D}"/>
              </a:ext>
            </a:extLst>
          </p:cNvPr>
          <p:cNvSpPr>
            <a:spLocks noGrp="1"/>
          </p:cNvSpPr>
          <p:nvPr/>
        </p:nvSpPr>
        <p:spPr>
          <a:xfrm>
            <a:off x="1200150" y="4591050"/>
            <a:ext cx="843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Kosten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72D09E-1E04-4FC1-B8B4-15611A28D821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549F"/>
                </a:solidFill>
              </a:defRPr>
            </a:pPr>
            <a:r>
              <a:rPr sz="1575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D49AB0-9C8E-457E-93E7-427A065B24F0}"/>
              </a:ext>
            </a:extLst>
          </p:cNvPr>
          <p:cNvSpPr>
            <a:spLocks noGrp="1"/>
          </p:cNvSpPr>
          <p:nvPr/>
        </p:nvSpPr>
        <p:spPr>
          <a:xfrm>
            <a:off x="1200150" y="4991100"/>
            <a:ext cx="843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Umweltwirkungen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7D5B50-B0E0-45C3-A073-F91EBDA0049B}"/>
              </a:ext>
            </a:extLst>
          </p:cNvPr>
          <p:cNvSpPr>
            <a:spLocks noGrp="1"/>
          </p:cNvSpPr>
          <p:nvPr/>
        </p:nvSpPr>
        <p:spPr>
          <a:xfrm>
            <a:off x="876300" y="53911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549F"/>
                </a:solidFill>
              </a:defRPr>
            </a:pPr>
            <a:r>
              <a:rPr sz="1575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B9DB9F-14D3-450E-BCC5-E7BD68E70BAA}"/>
              </a:ext>
            </a:extLst>
          </p:cNvPr>
          <p:cNvSpPr>
            <a:spLocks noGrp="1"/>
          </p:cNvSpPr>
          <p:nvPr/>
        </p:nvSpPr>
        <p:spPr>
          <a:xfrm>
            <a:off x="1200150" y="5391150"/>
            <a:ext cx="843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Technologieeinsatz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BFF97A-3544-4983-B40D-DB367FEBEABA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549F"/>
                </a:solidFill>
              </a:defRPr>
            </a:pPr>
            <a:r>
              <a:rPr sz="1575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494FD4-98E5-48DB-A46C-0B056BC8A554}"/>
              </a:ext>
            </a:extLst>
          </p:cNvPr>
          <p:cNvSpPr>
            <a:spLocks noGrp="1"/>
          </p:cNvSpPr>
          <p:nvPr/>
        </p:nvSpPr>
        <p:spPr>
          <a:xfrm>
            <a:off x="1200150" y="5791200"/>
            <a:ext cx="843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Transformationszeitpunkt</a:t>
            </a:r>
          </a:p>
        </p:txBody>
      </p:sp>
    </p:spTree>
    <p:extLst>
      <p:ext uri="{BB962C8B-B14F-4D97-AF65-F5344CB8AC3E}">
        <p14:creationId xmlns:p14="http://schemas.microsoft.com/office/powerpoint/2010/main" val="1228263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6117329-5463-4F40-A4D5-94A0C68B089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9D59EE-AC73-4267-9930-C470A203F89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20618"/>
                </a:solidFill>
              </a:defRPr>
            </a:pPr>
            <a:r>
              <a:rPr lang="de-DE" sz="2700" b="1" dirty="0">
                <a:solidFill>
                  <a:srgbClr val="020618"/>
                </a:solidFill>
              </a:rPr>
              <a:t>Aufbau</a:t>
            </a:r>
            <a:r>
              <a:rPr sz="2700" b="1" dirty="0">
                <a:solidFill>
                  <a:srgbClr val="020618"/>
                </a:solidFill>
              </a:rPr>
              <a:t> der Case Study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45CA5-3BC8-41AF-A63E-D6EB2CBF94ED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95500" cy="19050"/>
          </a:xfrm>
          <a:prstGeom prst="rect">
            <a:avLst/>
          </a:prstGeom>
          <a:solidFill>
            <a:srgbClr val="00549F"/>
          </a:solidFill>
          <a:ln w="0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F8B6F-5BCB-446E-BD08-1C61BB848B68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Case Study optimex |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5FFC31-1FE6-4E94-A484-10DFAE121A4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D293D"/>
                </a:solidFill>
              </a:defRPr>
            </a:pPr>
            <a:r>
              <a:rPr sz="1800" b="0" dirty="0">
                <a:solidFill>
                  <a:srgbClr val="1D293D"/>
                </a:solidFill>
              </a:rPr>
              <a:t>Die </a:t>
            </a:r>
            <a:r>
              <a:rPr sz="1800" b="0" dirty="0" err="1">
                <a:solidFill>
                  <a:srgbClr val="1D293D"/>
                </a:solidFill>
              </a:rPr>
              <a:t>Analyse</a:t>
            </a:r>
            <a:r>
              <a:rPr sz="1800" b="0" dirty="0">
                <a:solidFill>
                  <a:srgbClr val="1D293D"/>
                </a:solidFill>
              </a:rPr>
              <a:t> </a:t>
            </a:r>
            <a:r>
              <a:rPr sz="1800" b="0" dirty="0" err="1">
                <a:solidFill>
                  <a:srgbClr val="1D293D"/>
                </a:solidFill>
              </a:rPr>
              <a:t>entwickelt</a:t>
            </a:r>
            <a:r>
              <a:rPr sz="1800" b="0" dirty="0">
                <a:solidFill>
                  <a:srgbClr val="1D293D"/>
                </a:solidFill>
              </a:rPr>
              <a:t> </a:t>
            </a:r>
            <a:r>
              <a:rPr sz="1800" b="0" dirty="0" err="1">
                <a:solidFill>
                  <a:srgbClr val="1D293D"/>
                </a:solidFill>
              </a:rPr>
              <a:t>sich</a:t>
            </a:r>
            <a:r>
              <a:rPr sz="1800" b="0" dirty="0">
                <a:solidFill>
                  <a:srgbClr val="1D293D"/>
                </a:solidFill>
              </a:rPr>
              <a:t> von </a:t>
            </a:r>
            <a:r>
              <a:rPr sz="1800" b="0" dirty="0" err="1">
                <a:solidFill>
                  <a:srgbClr val="1D293D"/>
                </a:solidFill>
              </a:rPr>
              <a:t>einfachen</a:t>
            </a:r>
            <a:r>
              <a:rPr sz="1800" b="0" dirty="0">
                <a:solidFill>
                  <a:srgbClr val="1D293D"/>
                </a:solidFill>
              </a:rPr>
              <a:t> </a:t>
            </a:r>
            <a:r>
              <a:rPr sz="1800" b="0" dirty="0" err="1">
                <a:solidFill>
                  <a:srgbClr val="1D293D"/>
                </a:solidFill>
              </a:rPr>
              <a:t>Referenzfällen</a:t>
            </a:r>
            <a:r>
              <a:rPr sz="1800" b="0" dirty="0">
                <a:solidFill>
                  <a:srgbClr val="1D293D"/>
                </a:solidFill>
              </a:rPr>
              <a:t> </a:t>
            </a:r>
            <a:r>
              <a:rPr sz="1800" b="0" dirty="0" err="1">
                <a:solidFill>
                  <a:srgbClr val="1D293D"/>
                </a:solidFill>
              </a:rPr>
              <a:t>hin</a:t>
            </a:r>
            <a:r>
              <a:rPr sz="1800" b="0" dirty="0">
                <a:solidFill>
                  <a:srgbClr val="1D293D"/>
                </a:solidFill>
              </a:rPr>
              <a:t> </a:t>
            </a:r>
            <a:r>
              <a:rPr sz="1800" b="0" dirty="0" err="1">
                <a:solidFill>
                  <a:srgbClr val="1D293D"/>
                </a:solidFill>
              </a:rPr>
              <a:t>zu</a:t>
            </a:r>
            <a:r>
              <a:rPr sz="1800" b="0" dirty="0">
                <a:solidFill>
                  <a:srgbClr val="1D293D"/>
                </a:solidFill>
              </a:rPr>
              <a:t> </a:t>
            </a:r>
            <a:r>
              <a:rPr sz="1800" b="0" dirty="0" err="1">
                <a:solidFill>
                  <a:srgbClr val="1D293D"/>
                </a:solidFill>
              </a:rPr>
              <a:t>einer</a:t>
            </a:r>
            <a:r>
              <a:rPr sz="1800" b="0" dirty="0">
                <a:solidFill>
                  <a:srgbClr val="1D293D"/>
                </a:solidFill>
              </a:rPr>
              <a:t> </a:t>
            </a:r>
            <a:r>
              <a:rPr sz="1800" b="0" dirty="0" err="1">
                <a:solidFill>
                  <a:srgbClr val="1D293D"/>
                </a:solidFill>
              </a:rPr>
              <a:t>entscheidungsrelevanten</a:t>
            </a:r>
            <a:r>
              <a:rPr sz="1800" b="0" dirty="0">
                <a:solidFill>
                  <a:srgbClr val="1D293D"/>
                </a:solidFill>
              </a:rPr>
              <a:t> </a:t>
            </a:r>
            <a:r>
              <a:rPr sz="1800" b="0" dirty="0" err="1">
                <a:solidFill>
                  <a:srgbClr val="1D293D"/>
                </a:solidFill>
              </a:rPr>
              <a:t>Transformationsanalyse</a:t>
            </a:r>
            <a:r>
              <a:rPr sz="1800" b="0" dirty="0">
                <a:solidFill>
                  <a:srgbClr val="1D293D"/>
                </a:solidFill>
              </a:rPr>
              <a:t>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F43EF8-1A0F-4280-90E5-7ACB7E6BF28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952625" cy="12763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AD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1A0AD4-093C-4E29-A419-6DCA2E24CE48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549F"/>
                </a:solidFill>
              </a:defRPr>
            </a:pPr>
            <a:r>
              <a:rPr sz="1200" b="1" dirty="0">
                <a:solidFill>
                  <a:srgbClr val="00549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A7D953-E609-4FE7-99F5-1992B38D90F9}"/>
              </a:ext>
            </a:extLst>
          </p:cNvPr>
          <p:cNvSpPr>
            <a:spLocks noGrp="1"/>
          </p:cNvSpPr>
          <p:nvPr/>
        </p:nvSpPr>
        <p:spPr>
          <a:xfrm>
            <a:off x="838200" y="3257550"/>
            <a:ext cx="161924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D293D"/>
                </a:solidFill>
              </a:defRPr>
            </a:pPr>
            <a:r>
              <a:rPr sz="1275" b="0" dirty="0">
                <a:solidFill>
                  <a:srgbClr val="1D293D"/>
                </a:solidFill>
              </a:rPr>
              <a:t>Cost-only: </a:t>
            </a:r>
            <a:r>
              <a:rPr sz="1275" b="0" dirty="0" err="1">
                <a:solidFill>
                  <a:srgbClr val="1D293D"/>
                </a:solidFill>
              </a:rPr>
              <a:t>ökonomischer</a:t>
            </a:r>
            <a:r>
              <a:rPr sz="1275" b="0" dirty="0">
                <a:solidFill>
                  <a:srgbClr val="1D293D"/>
                </a:solidFill>
              </a:rPr>
              <a:t> </a:t>
            </a:r>
            <a:r>
              <a:rPr sz="1275" b="0" dirty="0" err="1">
                <a:solidFill>
                  <a:srgbClr val="1D293D"/>
                </a:solidFill>
              </a:rPr>
              <a:t>Referenzfall</a:t>
            </a:r>
            <a:endParaRPr sz="1275" b="0" dirty="0">
              <a:solidFill>
                <a:srgbClr val="1D293D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86BE6A-C167-4B92-8CD2-03F983BFF901}"/>
              </a:ext>
            </a:extLst>
          </p:cNvPr>
          <p:cNvSpPr>
            <a:spLocks noGrp="1"/>
          </p:cNvSpPr>
          <p:nvPr/>
        </p:nvSpPr>
        <p:spPr>
          <a:xfrm>
            <a:off x="2876550" y="2857500"/>
            <a:ext cx="1952625" cy="12763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AD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2F7194-1A05-4DA6-998D-19F89D67613B}"/>
              </a:ext>
            </a:extLst>
          </p:cNvPr>
          <p:cNvSpPr>
            <a:spLocks noGrp="1"/>
          </p:cNvSpPr>
          <p:nvPr/>
        </p:nvSpPr>
        <p:spPr>
          <a:xfrm>
            <a:off x="3028950" y="29908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549F"/>
                </a:solidFill>
              </a:defRPr>
            </a:pPr>
            <a:r>
              <a:rPr sz="1200" b="1">
                <a:solidFill>
                  <a:srgbClr val="00549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20BE9F-1CBF-4E8F-942F-7A638B26BC7C}"/>
              </a:ext>
            </a:extLst>
          </p:cNvPr>
          <p:cNvSpPr>
            <a:spLocks noGrp="1"/>
          </p:cNvSpPr>
          <p:nvPr/>
        </p:nvSpPr>
        <p:spPr>
          <a:xfrm>
            <a:off x="3028950" y="32575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3D"/>
                </a:solidFill>
              </a:defRPr>
            </a:pPr>
            <a:r>
              <a:rPr sz="1275" b="0" dirty="0">
                <a:solidFill>
                  <a:srgbClr val="1D293D"/>
                </a:solidFill>
              </a:rPr>
              <a:t>Environmental-only: </a:t>
            </a:r>
            <a:r>
              <a:rPr sz="1275" b="0" dirty="0" err="1">
                <a:solidFill>
                  <a:srgbClr val="1D293D"/>
                </a:solidFill>
              </a:rPr>
              <a:t>ökologischer</a:t>
            </a:r>
            <a:r>
              <a:rPr sz="1275" b="0" dirty="0">
                <a:solidFill>
                  <a:srgbClr val="1D293D"/>
                </a:solidFill>
              </a:rPr>
              <a:t> </a:t>
            </a:r>
            <a:r>
              <a:rPr sz="1275" b="0" dirty="0" err="1">
                <a:solidFill>
                  <a:srgbClr val="1D293D"/>
                </a:solidFill>
              </a:rPr>
              <a:t>Extremfall</a:t>
            </a:r>
            <a:endParaRPr sz="1275" b="0" dirty="0">
              <a:solidFill>
                <a:srgbClr val="1D293D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96EEED-8697-42F3-AE17-BC7BCEF33435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952625" cy="1276350"/>
          </a:xfrm>
          <a:prstGeom prst="roundRect">
            <a:avLst>
              <a:gd name="adj" fmla="val 7843"/>
            </a:avLst>
          </a:prstGeom>
          <a:solidFill>
            <a:srgbClr val="E8F1FA"/>
          </a:solidFill>
          <a:ln w="9525">
            <a:solidFill>
              <a:srgbClr val="CAD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8BE66F-A92A-45BA-97A9-83FE1FFA02F8}"/>
              </a:ext>
            </a:extLst>
          </p:cNvPr>
          <p:cNvSpPr>
            <a:spLocks noGrp="1"/>
          </p:cNvSpPr>
          <p:nvPr/>
        </p:nvSpPr>
        <p:spPr>
          <a:xfrm>
            <a:off x="5219700" y="29908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549F"/>
                </a:solidFill>
              </a:defRPr>
            </a:pPr>
            <a:r>
              <a:rPr sz="1200" b="1">
                <a:solidFill>
                  <a:srgbClr val="00549F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7C6942-6B86-4F09-A8CE-44FA51787F57}"/>
              </a:ext>
            </a:extLst>
          </p:cNvPr>
          <p:cNvSpPr>
            <a:spLocks noGrp="1"/>
          </p:cNvSpPr>
          <p:nvPr/>
        </p:nvSpPr>
        <p:spPr>
          <a:xfrm>
            <a:off x="5219700" y="32575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3D"/>
                </a:solidFill>
              </a:defRPr>
            </a:pPr>
            <a:r>
              <a:rPr sz="1275" b="0" dirty="0">
                <a:solidFill>
                  <a:srgbClr val="1D293D"/>
                </a:solidFill>
              </a:rPr>
              <a:t>Emission budget: </a:t>
            </a:r>
            <a:r>
              <a:rPr sz="1275" b="0" dirty="0" err="1">
                <a:solidFill>
                  <a:srgbClr val="1D293D"/>
                </a:solidFill>
              </a:rPr>
              <a:t>kostenoptimale</a:t>
            </a:r>
            <a:r>
              <a:rPr sz="1275" b="0" dirty="0">
                <a:solidFill>
                  <a:srgbClr val="1D293D"/>
                </a:solidFill>
              </a:rPr>
              <a:t> </a:t>
            </a:r>
            <a:r>
              <a:rPr sz="1275" b="0" dirty="0" err="1">
                <a:solidFill>
                  <a:srgbClr val="1D293D"/>
                </a:solidFill>
              </a:rPr>
              <a:t>Zielerfüllung</a:t>
            </a:r>
            <a:endParaRPr sz="1275" b="0" dirty="0">
              <a:solidFill>
                <a:srgbClr val="1D293D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516ECFE-ED1E-42FC-8612-8E463E9DEF3D}"/>
              </a:ext>
            </a:extLst>
          </p:cNvPr>
          <p:cNvSpPr>
            <a:spLocks noGrp="1"/>
          </p:cNvSpPr>
          <p:nvPr/>
        </p:nvSpPr>
        <p:spPr>
          <a:xfrm>
            <a:off x="7258050" y="2857500"/>
            <a:ext cx="1952625" cy="12763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AD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B68B99-D128-4BDF-8AD8-7BEDBF4C5C18}"/>
              </a:ext>
            </a:extLst>
          </p:cNvPr>
          <p:cNvSpPr>
            <a:spLocks noGrp="1"/>
          </p:cNvSpPr>
          <p:nvPr/>
        </p:nvSpPr>
        <p:spPr>
          <a:xfrm>
            <a:off x="7410450" y="29908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549F"/>
                </a:solidFill>
              </a:defRPr>
            </a:pPr>
            <a:r>
              <a:rPr sz="1200" b="1">
                <a:solidFill>
                  <a:srgbClr val="00549F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392744-54B0-478B-A1AD-7C377D83A2AE}"/>
              </a:ext>
            </a:extLst>
          </p:cNvPr>
          <p:cNvSpPr>
            <a:spLocks noGrp="1"/>
          </p:cNvSpPr>
          <p:nvPr/>
        </p:nvSpPr>
        <p:spPr>
          <a:xfrm>
            <a:off x="7410450" y="32575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3D"/>
                </a:solidFill>
              </a:defRPr>
            </a:pPr>
            <a:r>
              <a:rPr sz="1275" b="0">
                <a:solidFill>
                  <a:srgbClr val="1D293D"/>
                </a:solidFill>
              </a:rPr>
              <a:t>Budget sweep / Pareto curve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5379E19-30D2-4C3C-A3B5-DE6692BC17E7}"/>
              </a:ext>
            </a:extLst>
          </p:cNvPr>
          <p:cNvSpPr>
            <a:spLocks noGrp="1"/>
          </p:cNvSpPr>
          <p:nvPr/>
        </p:nvSpPr>
        <p:spPr>
          <a:xfrm>
            <a:off x="9448800" y="2857500"/>
            <a:ext cx="1952625" cy="12763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AD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50B8A0-C963-466A-B653-7FFE1225F930}"/>
              </a:ext>
            </a:extLst>
          </p:cNvPr>
          <p:cNvSpPr>
            <a:spLocks noGrp="1"/>
          </p:cNvSpPr>
          <p:nvPr/>
        </p:nvSpPr>
        <p:spPr>
          <a:xfrm>
            <a:off x="9601200" y="29908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549F"/>
                </a:solidFill>
              </a:defRPr>
            </a:pPr>
            <a:r>
              <a:rPr sz="1200" b="1">
                <a:solidFill>
                  <a:srgbClr val="00549F"/>
                </a:solidFill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D26214-A905-4700-A03B-22B4A53FE29C}"/>
              </a:ext>
            </a:extLst>
          </p:cNvPr>
          <p:cNvSpPr>
            <a:spLocks noGrp="1"/>
          </p:cNvSpPr>
          <p:nvPr/>
        </p:nvSpPr>
        <p:spPr>
          <a:xfrm>
            <a:off x="9601200" y="32575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3D"/>
                </a:solidFill>
              </a:defRPr>
            </a:pPr>
            <a:r>
              <a:rPr sz="1275" b="0" dirty="0">
                <a:solidFill>
                  <a:srgbClr val="1D293D"/>
                </a:solidFill>
              </a:rPr>
              <a:t>CO₂ price: </a:t>
            </a:r>
            <a:r>
              <a:rPr sz="1275" b="0" dirty="0" err="1">
                <a:solidFill>
                  <a:srgbClr val="1D293D"/>
                </a:solidFill>
              </a:rPr>
              <a:t>ökonomische</a:t>
            </a:r>
            <a:r>
              <a:rPr sz="1275" b="0" dirty="0">
                <a:solidFill>
                  <a:srgbClr val="1D293D"/>
                </a:solidFill>
              </a:rPr>
              <a:t> </a:t>
            </a:r>
            <a:r>
              <a:rPr sz="1275" b="0" dirty="0" err="1">
                <a:solidFill>
                  <a:srgbClr val="1D293D"/>
                </a:solidFill>
              </a:rPr>
              <a:t>Anreizwirkung</a:t>
            </a:r>
            <a:endParaRPr sz="1275" b="0" dirty="0">
              <a:solidFill>
                <a:srgbClr val="1D293D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7AC6F7-E5C7-4D98-B3FD-A5FC5153A7CE}"/>
              </a:ext>
            </a:extLst>
          </p:cNvPr>
          <p:cNvSpPr>
            <a:spLocks noGrp="1"/>
          </p:cNvSpPr>
          <p:nvPr/>
        </p:nvSpPr>
        <p:spPr>
          <a:xfrm>
            <a:off x="5067300" y="41243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549F"/>
                </a:solidFill>
              </a:defRPr>
            </a:pPr>
            <a:r>
              <a:rPr sz="1350" b="1" dirty="0">
                <a:solidFill>
                  <a:srgbClr val="00549F"/>
                </a:solidFill>
              </a:rPr>
              <a:t>Kern der Case Study</a:t>
            </a:r>
          </a:p>
        </p:txBody>
      </p:sp>
    </p:spTree>
    <p:extLst>
      <p:ext uri="{BB962C8B-B14F-4D97-AF65-F5344CB8AC3E}">
        <p14:creationId xmlns:p14="http://schemas.microsoft.com/office/powerpoint/2010/main" val="2024523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A38DDB3-F248-498E-AB45-D7AFDDF0ADD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AA24D7-5124-4C44-97E9-8AF48464BDC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1. Cost-only: Ökonomischer Referenzfall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33D39B-6FF7-414E-9FDC-88D5F5F6D590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95500" cy="19050"/>
          </a:xfrm>
          <a:prstGeom prst="rect">
            <a:avLst/>
          </a:prstGeom>
          <a:solidFill>
            <a:srgbClr val="00549F"/>
          </a:solidFill>
          <a:ln w="0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74C7E-2698-47D1-9114-CE7B9C825EDE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Case Study optimex |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450B82-B9EB-449A-B228-BB28DC729E27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Ausgangspunkt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1AC8BE-3A24-4812-BC2E-1541E598F0C2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BFF70D-4E37-4456-A8AD-889C80F1CE38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Transformationspfad bei reiner Kostenminimierung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8EB30-33D8-40C8-82CB-E1FDB9C6C1D7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7F730E-7771-4DC7-BC95-715BA1A3F7D0}"/>
              </a:ext>
            </a:extLst>
          </p:cNvPr>
          <p:cNvSpPr>
            <a:spLocks noGrp="1"/>
          </p:cNvSpPr>
          <p:nvPr/>
        </p:nvSpPr>
        <p:spPr>
          <a:xfrm>
            <a:off x="1009650" y="2762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Keine Berücksichtigung ökologischer Restriktionen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246729-6D77-4976-8A99-A722FE1CEC95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B21387-8316-4173-86D1-9B96294EDF18}"/>
              </a:ext>
            </a:extLst>
          </p:cNvPr>
          <p:cNvSpPr>
            <a:spLocks noGrp="1"/>
          </p:cNvSpPr>
          <p:nvPr/>
        </p:nvSpPr>
        <p:spPr>
          <a:xfrm>
            <a:off x="1009650" y="32194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Wirtschaftlicher Referenzfall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C28952-D4CD-44B8-A8E1-F6CD180AEE9D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15795-23DB-4058-A3E3-97461D14CB94}"/>
              </a:ext>
            </a:extLst>
          </p:cNvPr>
          <p:cNvSpPr>
            <a:spLocks noGrp="1"/>
          </p:cNvSpPr>
          <p:nvPr/>
        </p:nvSpPr>
        <p:spPr>
          <a:xfrm>
            <a:off x="1009650" y="36766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Sichtbar wird, welche Technologieentscheidungen ohne Umweltconstraints getroffen werden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7613B7-FBDF-40EB-9E45-332F9F255EDE}"/>
              </a:ext>
            </a:extLst>
          </p:cNvPr>
          <p:cNvSpPr>
            <a:spLocks noGrp="1"/>
          </p:cNvSpPr>
          <p:nvPr/>
        </p:nvSpPr>
        <p:spPr>
          <a:xfrm>
            <a:off x="6477000" y="18859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Zentrales Argument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E37855-C5E4-4ED7-9E83-268DE5BF2F18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1189CC-326A-4E85-835C-C1FFDE5CB1F4}"/>
              </a:ext>
            </a:extLst>
          </p:cNvPr>
          <p:cNvSpPr>
            <a:spLocks noGrp="1"/>
          </p:cNvSpPr>
          <p:nvPr/>
        </p:nvSpPr>
        <p:spPr>
          <a:xfrm>
            <a:off x="6800850" y="23050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Kosten können als Zielfunktion formuliert werden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BE0347-C1FC-4B34-B629-64624C823D52}"/>
              </a:ext>
            </a:extLst>
          </p:cNvPr>
          <p:cNvSpPr>
            <a:spLocks noGrp="1"/>
          </p:cNvSpPr>
          <p:nvPr/>
        </p:nvSpPr>
        <p:spPr>
          <a:xfrm>
            <a:off x="6477000" y="2762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3D5F26-E533-4453-BBEB-C276E70F0710}"/>
              </a:ext>
            </a:extLst>
          </p:cNvPr>
          <p:cNvSpPr>
            <a:spLocks noGrp="1"/>
          </p:cNvSpPr>
          <p:nvPr/>
        </p:nvSpPr>
        <p:spPr>
          <a:xfrm>
            <a:off x="6800850" y="2762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 dirty="0">
                <a:solidFill>
                  <a:srgbClr val="1D293D"/>
                </a:solidFill>
              </a:rPr>
              <a:t>Framework </a:t>
            </a:r>
            <a:r>
              <a:rPr sz="1500" b="0" dirty="0" err="1">
                <a:solidFill>
                  <a:srgbClr val="1D293D"/>
                </a:solidFill>
              </a:rPr>
              <a:t>leitet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daraus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einen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kostenoptimalen</a:t>
            </a:r>
            <a:r>
              <a:rPr sz="1500" b="0" dirty="0">
                <a:solidFill>
                  <a:srgbClr val="1D293D"/>
                </a:solidFill>
              </a:rPr>
              <a:t> Technologie- und </a:t>
            </a:r>
            <a:r>
              <a:rPr sz="1500" b="0" dirty="0" err="1">
                <a:solidFill>
                  <a:srgbClr val="1D293D"/>
                </a:solidFill>
              </a:rPr>
              <a:t>Betriebspfad</a:t>
            </a:r>
            <a:r>
              <a:rPr sz="1500" b="0" dirty="0">
                <a:solidFill>
                  <a:srgbClr val="1D293D"/>
                </a:solidFill>
              </a:rPr>
              <a:t> ab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439FB0-352E-4DE4-975E-408E2C2808B6}"/>
              </a:ext>
            </a:extLst>
          </p:cNvPr>
          <p:cNvSpPr>
            <a:spLocks noGrp="1"/>
          </p:cNvSpPr>
          <p:nvPr/>
        </p:nvSpPr>
        <p:spPr>
          <a:xfrm>
            <a:off x="6477000" y="3219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684667-A405-4036-B2F9-514207A6E4CF}"/>
              </a:ext>
            </a:extLst>
          </p:cNvPr>
          <p:cNvSpPr>
            <a:spLocks noGrp="1"/>
          </p:cNvSpPr>
          <p:nvPr/>
        </p:nvSpPr>
        <p:spPr>
          <a:xfrm>
            <a:off x="6800850" y="32194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 dirty="0" err="1">
                <a:solidFill>
                  <a:srgbClr val="1D293D"/>
                </a:solidFill>
              </a:rPr>
              <a:t>Referenzfall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zeigt</a:t>
            </a:r>
            <a:r>
              <a:rPr sz="1500" b="0" dirty="0">
                <a:solidFill>
                  <a:srgbClr val="1D293D"/>
                </a:solidFill>
              </a:rPr>
              <a:t>, </a:t>
            </a:r>
            <a:r>
              <a:rPr sz="1500" b="0" dirty="0" err="1">
                <a:solidFill>
                  <a:srgbClr val="1D293D"/>
                </a:solidFill>
              </a:rPr>
              <a:t>ob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ökologische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Zielgrößen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verfehlt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werden</a:t>
            </a:r>
            <a:endParaRPr sz="1500" b="0" dirty="0">
              <a:solidFill>
                <a:srgbClr val="1D293D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F6C58AB-A3E5-4AEC-917A-39FE883A32C4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10858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8DD9CA-3FC6-440B-828A-0FBAB8828362}"/>
              </a:ext>
            </a:extLst>
          </p:cNvPr>
          <p:cNvSpPr>
            <a:spLocks noGrp="1"/>
          </p:cNvSpPr>
          <p:nvPr/>
        </p:nvSpPr>
        <p:spPr>
          <a:xfrm>
            <a:off x="952500" y="50101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549F"/>
                </a:solidFill>
              </a:defRPr>
            </a:pPr>
            <a:r>
              <a:rPr sz="1200" b="1" dirty="0" err="1">
                <a:solidFill>
                  <a:srgbClr val="00549F"/>
                </a:solidFill>
              </a:rPr>
              <a:t>Forschungsfrage</a:t>
            </a:r>
            <a:endParaRPr sz="1200" b="1" dirty="0">
              <a:solidFill>
                <a:srgbClr val="00549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3004FB-B6AA-4019-9DD8-1BE44C67C5B4}"/>
              </a:ext>
            </a:extLst>
          </p:cNvPr>
          <p:cNvSpPr>
            <a:spLocks noGrp="1"/>
          </p:cNvSpPr>
          <p:nvPr/>
        </p:nvSpPr>
        <p:spPr>
          <a:xfrm>
            <a:off x="952500" y="5257800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D293D"/>
                </a:solidFill>
              </a:defRPr>
            </a:pPr>
            <a:r>
              <a:rPr sz="1350" b="0" dirty="0">
                <a:solidFill>
                  <a:srgbClr val="1D293D"/>
                </a:solidFill>
              </a:rPr>
              <a:t>Welcher </a:t>
            </a:r>
            <a:r>
              <a:rPr sz="1350" b="0" dirty="0" err="1">
                <a:solidFill>
                  <a:srgbClr val="1D293D"/>
                </a:solidFill>
              </a:rPr>
              <a:t>Transformationspfad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ergibt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sich</a:t>
            </a:r>
            <a:r>
              <a:rPr sz="1350" b="0" dirty="0">
                <a:solidFill>
                  <a:srgbClr val="1D293D"/>
                </a:solidFill>
              </a:rPr>
              <a:t>, </a:t>
            </a:r>
            <a:r>
              <a:rPr sz="1350" b="0" dirty="0" err="1">
                <a:solidFill>
                  <a:srgbClr val="1D293D"/>
                </a:solidFill>
              </a:rPr>
              <a:t>wenn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ausschließlich</a:t>
            </a:r>
            <a:r>
              <a:rPr sz="1350" b="0" dirty="0">
                <a:solidFill>
                  <a:srgbClr val="1D293D"/>
                </a:solidFill>
              </a:rPr>
              <a:t> Kosten </a:t>
            </a:r>
            <a:r>
              <a:rPr sz="1350" b="0" dirty="0" err="1">
                <a:solidFill>
                  <a:srgbClr val="1D293D"/>
                </a:solidFill>
              </a:rPr>
              <a:t>minimiert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werden</a:t>
            </a:r>
            <a:r>
              <a:rPr sz="1350" b="0" dirty="0">
                <a:solidFill>
                  <a:srgbClr val="1D293D"/>
                </a:solidFill>
              </a:rPr>
              <a:t> und </a:t>
            </a:r>
            <a:r>
              <a:rPr sz="1350" b="0" dirty="0" err="1">
                <a:solidFill>
                  <a:srgbClr val="1D293D"/>
                </a:solidFill>
              </a:rPr>
              <a:t>keine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Umweltconstraints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berücksichtigt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werden</a:t>
            </a:r>
            <a:r>
              <a:rPr sz="1350" b="0" dirty="0">
                <a:solidFill>
                  <a:srgbClr val="1D293D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33475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A3311AE-F9D6-4202-8D20-9F276FE38D4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7113B2-D02E-42A8-8267-D218CEC0CC8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2. Environmental-only: Ökologischer Extremfall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921E03-2662-43D0-9A39-53664704F450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95500" cy="19050"/>
          </a:xfrm>
          <a:prstGeom prst="rect">
            <a:avLst/>
          </a:prstGeom>
          <a:solidFill>
            <a:srgbClr val="00549F"/>
          </a:solidFill>
          <a:ln w="0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5A059B-0659-44A5-BAA5-325F2CB41A8F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Case Study optimex |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CB20B-987A-4637-B2DB-F7E305F2CEE4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Ausgangspunkt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BC747-F940-4738-9A66-52CE4A4329C2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4F569-B17A-449D-AD93-803DD2263631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Bestimmung des rein umweltoptimalen Transformationspfads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2421D0-1279-4A77-98F5-8B21AC623BB6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3CF622-A769-4C6F-9BFD-A085BDA47BE7}"/>
              </a:ext>
            </a:extLst>
          </p:cNvPr>
          <p:cNvSpPr>
            <a:spLocks noGrp="1"/>
          </p:cNvSpPr>
          <p:nvPr/>
        </p:nvSpPr>
        <p:spPr>
          <a:xfrm>
            <a:off x="1009650" y="2762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 dirty="0" err="1">
                <a:solidFill>
                  <a:srgbClr val="1D293D"/>
                </a:solidFill>
              </a:rPr>
              <a:t>Knüpft</a:t>
            </a:r>
            <a:r>
              <a:rPr sz="1500" b="0" dirty="0">
                <a:solidFill>
                  <a:srgbClr val="1D293D"/>
                </a:solidFill>
              </a:rPr>
              <a:t> an die </a:t>
            </a:r>
            <a:r>
              <a:rPr sz="1500" b="0" dirty="0" err="1">
                <a:solidFill>
                  <a:srgbClr val="1D293D"/>
                </a:solidFill>
              </a:rPr>
              <a:t>bisherige</a:t>
            </a:r>
            <a:r>
              <a:rPr sz="1500" b="0" dirty="0">
                <a:solidFill>
                  <a:srgbClr val="1D293D"/>
                </a:solidFill>
              </a:rPr>
              <a:t> Logik von </a:t>
            </a:r>
            <a:r>
              <a:rPr sz="1500" b="0" dirty="0" err="1">
                <a:solidFill>
                  <a:srgbClr val="1D293D"/>
                </a:solidFill>
              </a:rPr>
              <a:t>optimex</a:t>
            </a:r>
            <a:r>
              <a:rPr sz="1500" b="0" dirty="0">
                <a:solidFill>
                  <a:srgbClr val="1D293D"/>
                </a:solidFill>
              </a:rPr>
              <a:t> 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52E64E-13EC-41D6-B450-5F5CC2A9F4D5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9531D6-0C9D-40B7-80AC-AAAFEEDE7684}"/>
              </a:ext>
            </a:extLst>
          </p:cNvPr>
          <p:cNvSpPr>
            <a:spLocks noGrp="1"/>
          </p:cNvSpPr>
          <p:nvPr/>
        </p:nvSpPr>
        <p:spPr>
          <a:xfrm>
            <a:off x="1009650" y="32194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Umweltwirkungen werden als Zielfunktion minimiert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7B583-8206-466B-87F2-577F5EF45823}"/>
              </a:ext>
            </a:extLst>
          </p:cNvPr>
          <p:cNvSpPr>
            <a:spLocks noGrp="1"/>
          </p:cNvSpPr>
          <p:nvPr/>
        </p:nvSpPr>
        <p:spPr>
          <a:xfrm>
            <a:off x="6477000" y="18859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Zentrales Argument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1B9B7B-75AF-41A4-B6DC-7479EAA878E9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6C1C69-D1EF-4412-8960-BA7D995AD920}"/>
              </a:ext>
            </a:extLst>
          </p:cNvPr>
          <p:cNvSpPr>
            <a:spLocks noGrp="1"/>
          </p:cNvSpPr>
          <p:nvPr/>
        </p:nvSpPr>
        <p:spPr>
          <a:xfrm>
            <a:off x="6800850" y="23050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Vergleich mit Cost-only zeigt den grundsätzlichen Zielkonflikt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B7D197-3750-4048-8058-DFB07A644D2A}"/>
              </a:ext>
            </a:extLst>
          </p:cNvPr>
          <p:cNvSpPr>
            <a:spLocks noGrp="1"/>
          </p:cNvSpPr>
          <p:nvPr/>
        </p:nvSpPr>
        <p:spPr>
          <a:xfrm>
            <a:off x="6477000" y="2762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804C1B-FDA9-4F41-8DBE-69DA809207F6}"/>
              </a:ext>
            </a:extLst>
          </p:cNvPr>
          <p:cNvSpPr>
            <a:spLocks noGrp="1"/>
          </p:cNvSpPr>
          <p:nvPr/>
        </p:nvSpPr>
        <p:spPr>
          <a:xfrm>
            <a:off x="6800850" y="2762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Cost-only liefert die wirtschaftlich günstigste Lösung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969C54-7EDF-4866-B364-AFBC1FD19BE8}"/>
              </a:ext>
            </a:extLst>
          </p:cNvPr>
          <p:cNvSpPr>
            <a:spLocks noGrp="1"/>
          </p:cNvSpPr>
          <p:nvPr/>
        </p:nvSpPr>
        <p:spPr>
          <a:xfrm>
            <a:off x="6477000" y="3219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2B35C2-DE07-4217-9162-8319EF5EBF4B}"/>
              </a:ext>
            </a:extLst>
          </p:cNvPr>
          <p:cNvSpPr>
            <a:spLocks noGrp="1"/>
          </p:cNvSpPr>
          <p:nvPr/>
        </p:nvSpPr>
        <p:spPr>
          <a:xfrm>
            <a:off x="6800850" y="32194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Environmental-only liefert die ökologische Bestlösung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9311BC-BC02-4769-A920-317FDE4C8133}"/>
              </a:ext>
            </a:extLst>
          </p:cNvPr>
          <p:cNvSpPr>
            <a:spLocks noGrp="1"/>
          </p:cNvSpPr>
          <p:nvPr/>
        </p:nvSpPr>
        <p:spPr>
          <a:xfrm>
            <a:off x="6477000" y="36766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A09D4B-0399-45C1-A7B8-38C8CED6AF8F}"/>
              </a:ext>
            </a:extLst>
          </p:cNvPr>
          <p:cNvSpPr>
            <a:spLocks noGrp="1"/>
          </p:cNvSpPr>
          <p:nvPr/>
        </p:nvSpPr>
        <p:spPr>
          <a:xfrm>
            <a:off x="6800850" y="36766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Die Differenz verdeutlicht die Notwendigkeit einer integrierten Betrachtung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2DA267-F17E-4F9B-945A-DDC588F2956A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10858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01A66E-D0E2-440C-96FC-8607B86FBF1F}"/>
              </a:ext>
            </a:extLst>
          </p:cNvPr>
          <p:cNvSpPr>
            <a:spLocks noGrp="1"/>
          </p:cNvSpPr>
          <p:nvPr/>
        </p:nvSpPr>
        <p:spPr>
          <a:xfrm>
            <a:off x="952500" y="50101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549F"/>
                </a:solidFill>
              </a:defRPr>
            </a:pPr>
            <a:r>
              <a:rPr sz="1200" b="1">
                <a:solidFill>
                  <a:srgbClr val="00549F"/>
                </a:solidFill>
              </a:rPr>
              <a:t>Forschungsfrage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313BDC-5FEF-41D3-8E54-83ED6EC84A33}"/>
              </a:ext>
            </a:extLst>
          </p:cNvPr>
          <p:cNvSpPr>
            <a:spLocks noGrp="1"/>
          </p:cNvSpPr>
          <p:nvPr/>
        </p:nvSpPr>
        <p:spPr>
          <a:xfrm>
            <a:off x="952500" y="5257800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Welcher Transformationspfad ergibt sich, wenn ausschließlich die Umweltwirkung minimiert wird, und wie unterscheidet sich dieser Pfad vom rein kostenoptimalen Pfad?</a:t>
            </a:r>
          </a:p>
        </p:txBody>
      </p:sp>
    </p:spTree>
    <p:extLst>
      <p:ext uri="{BB962C8B-B14F-4D97-AF65-F5344CB8AC3E}">
        <p14:creationId xmlns:p14="http://schemas.microsoft.com/office/powerpoint/2010/main" val="50767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2F2F283-B075-4982-8694-66F43BF1506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CB8D5E-B305-4594-A341-03996B2CC63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3. Kostenminimierung mit Emissionsbudget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C1A76B-5D51-4B3C-B3CD-BB8B693F0226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95500" cy="19050"/>
          </a:xfrm>
          <a:prstGeom prst="rect">
            <a:avLst/>
          </a:prstGeom>
          <a:solidFill>
            <a:srgbClr val="00549F"/>
          </a:solidFill>
          <a:ln w="0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A7903D-9F07-47C7-B1F5-EEDA0429F255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Case Study optimex |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952B48-97A7-4E50-9C9F-14F74C1A5382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Ausgangspunkt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EDD300-E800-4B9A-BBED-5D8C3933631E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BFCB16-4AFD-45CD-8812-8152B5D63790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Kern der Case Study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B79A09-03CC-4755-AFC6-7DE87D0D0CCB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13ED2C-845A-43E7-8950-C35BF75FDAE9}"/>
              </a:ext>
            </a:extLst>
          </p:cNvPr>
          <p:cNvSpPr>
            <a:spLocks noGrp="1"/>
          </p:cNvSpPr>
          <p:nvPr/>
        </p:nvSpPr>
        <p:spPr>
          <a:xfrm>
            <a:off x="1009650" y="2762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Nicht mehr entweder Kosten oder Umwelt minimieren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A1A3A-0722-46AA-BF84-14D1C27C7E3F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D295E1-C238-4EAF-B04C-A46A000621C5}"/>
              </a:ext>
            </a:extLst>
          </p:cNvPr>
          <p:cNvSpPr>
            <a:spLocks noGrp="1"/>
          </p:cNvSpPr>
          <p:nvPr/>
        </p:nvSpPr>
        <p:spPr>
          <a:xfrm>
            <a:off x="1009650" y="32194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Ökologisches Ziel als Nebenbedingung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64E60B-0B3E-4304-BD28-C10D7A16D973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623EFE-96B5-4A70-97B5-EFEB3586CD72}"/>
              </a:ext>
            </a:extLst>
          </p:cNvPr>
          <p:cNvSpPr>
            <a:spLocks noGrp="1"/>
          </p:cNvSpPr>
          <p:nvPr/>
        </p:nvSpPr>
        <p:spPr>
          <a:xfrm>
            <a:off x="1009650" y="36766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 dirty="0" err="1">
                <a:solidFill>
                  <a:srgbClr val="1D293D"/>
                </a:solidFill>
              </a:rPr>
              <a:t>Gesucht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wird</a:t>
            </a:r>
            <a:r>
              <a:rPr sz="1500" b="0" dirty="0">
                <a:solidFill>
                  <a:srgbClr val="1D293D"/>
                </a:solidFill>
              </a:rPr>
              <a:t> der </a:t>
            </a:r>
            <a:r>
              <a:rPr sz="1500" b="0" dirty="0" err="1">
                <a:solidFill>
                  <a:srgbClr val="1D293D"/>
                </a:solidFill>
              </a:rPr>
              <a:t>kostengünstigste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Pfad</a:t>
            </a:r>
            <a:r>
              <a:rPr sz="1500" b="0" dirty="0">
                <a:solidFill>
                  <a:srgbClr val="1D293D"/>
                </a:solidFill>
              </a:rPr>
              <a:t>, der </a:t>
            </a:r>
            <a:r>
              <a:rPr sz="1500" b="0" dirty="0" err="1">
                <a:solidFill>
                  <a:srgbClr val="1D293D"/>
                </a:solidFill>
              </a:rPr>
              <a:t>ein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vorgegebenes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Emissionsbudget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einhält</a:t>
            </a:r>
            <a:endParaRPr sz="1500" b="0" dirty="0">
              <a:solidFill>
                <a:srgbClr val="1D293D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5174F-A36A-40D5-9136-9BA78A5C76D3}"/>
              </a:ext>
            </a:extLst>
          </p:cNvPr>
          <p:cNvSpPr>
            <a:spLocks noGrp="1"/>
          </p:cNvSpPr>
          <p:nvPr/>
        </p:nvSpPr>
        <p:spPr>
          <a:xfrm>
            <a:off x="6477000" y="18859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Zentrales Argument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E4457D-D8F8-48B3-9AA2-677D61912799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249B7D-BCB0-40B7-BC8A-A112DC5603E1}"/>
              </a:ext>
            </a:extLst>
          </p:cNvPr>
          <p:cNvSpPr>
            <a:spLocks noGrp="1"/>
          </p:cNvSpPr>
          <p:nvPr/>
        </p:nvSpPr>
        <p:spPr>
          <a:xfrm>
            <a:off x="6800850" y="23050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Adressiert die zentrale Forschungslücke der Arbeit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8BE1A0-920C-402C-9B39-F707C091366F}"/>
              </a:ext>
            </a:extLst>
          </p:cNvPr>
          <p:cNvSpPr>
            <a:spLocks noGrp="1"/>
          </p:cNvSpPr>
          <p:nvPr/>
        </p:nvSpPr>
        <p:spPr>
          <a:xfrm>
            <a:off x="6477000" y="2762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CBCD22-CFB1-43AB-B040-D754D06EE443}"/>
              </a:ext>
            </a:extLst>
          </p:cNvPr>
          <p:cNvSpPr>
            <a:spLocks noGrp="1"/>
          </p:cNvSpPr>
          <p:nvPr/>
        </p:nvSpPr>
        <p:spPr>
          <a:xfrm>
            <a:off x="6800850" y="2762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Umweltwirkungen werden als Constraints berücksichtigt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F56002-78BA-4FAA-A120-83B0EF501AEF}"/>
              </a:ext>
            </a:extLst>
          </p:cNvPr>
          <p:cNvSpPr>
            <a:spLocks noGrp="1"/>
          </p:cNvSpPr>
          <p:nvPr/>
        </p:nvSpPr>
        <p:spPr>
          <a:xfrm>
            <a:off x="6477000" y="3219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8C73FB-59AB-4E92-BDA1-191F89D3232D}"/>
              </a:ext>
            </a:extLst>
          </p:cNvPr>
          <p:cNvSpPr>
            <a:spLocks noGrp="1"/>
          </p:cNvSpPr>
          <p:nvPr/>
        </p:nvSpPr>
        <p:spPr>
          <a:xfrm>
            <a:off x="6800850" y="32194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Kosten werden als Zielfunktion minimiert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09DFEC-22A3-4E01-82E3-405683052898}"/>
              </a:ext>
            </a:extLst>
          </p:cNvPr>
          <p:cNvSpPr>
            <a:spLocks noGrp="1"/>
          </p:cNvSpPr>
          <p:nvPr/>
        </p:nvSpPr>
        <p:spPr>
          <a:xfrm>
            <a:off x="6477000" y="36766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BB2F82-E6AA-46E8-B78D-F687889BF58F}"/>
              </a:ext>
            </a:extLst>
          </p:cNvPr>
          <p:cNvSpPr>
            <a:spLocks noGrp="1"/>
          </p:cNvSpPr>
          <p:nvPr/>
        </p:nvSpPr>
        <p:spPr>
          <a:xfrm>
            <a:off x="6800850" y="36766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optimex wird zu einem entscheidungsunterstützenden Framework für Transformationen unter ökologischen Zielvorgaben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5D3C1E-85D3-409F-AF82-F8E4ADB12312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10858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3C4D02-34F2-4D9E-8660-20A6B3D59252}"/>
              </a:ext>
            </a:extLst>
          </p:cNvPr>
          <p:cNvSpPr>
            <a:spLocks noGrp="1"/>
          </p:cNvSpPr>
          <p:nvPr/>
        </p:nvSpPr>
        <p:spPr>
          <a:xfrm>
            <a:off x="952500" y="50101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549F"/>
                </a:solidFill>
              </a:defRPr>
            </a:pPr>
            <a:r>
              <a:rPr sz="1200" b="1">
                <a:solidFill>
                  <a:srgbClr val="00549F"/>
                </a:solidFill>
              </a:rPr>
              <a:t>Forschungsfrage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C60D8A-6837-4DA1-8087-89EB9BA4C1D7}"/>
              </a:ext>
            </a:extLst>
          </p:cNvPr>
          <p:cNvSpPr>
            <a:spLocks noGrp="1"/>
          </p:cNvSpPr>
          <p:nvPr/>
        </p:nvSpPr>
        <p:spPr>
          <a:xfrm>
            <a:off x="952500" y="5257800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D293D"/>
                </a:solidFill>
              </a:defRPr>
            </a:pPr>
            <a:r>
              <a:rPr sz="1350" b="0" dirty="0">
                <a:solidFill>
                  <a:srgbClr val="1D293D"/>
                </a:solidFill>
              </a:rPr>
              <a:t>Welcher </a:t>
            </a:r>
            <a:r>
              <a:rPr sz="1350" b="0" dirty="0" err="1">
                <a:solidFill>
                  <a:srgbClr val="1D293D"/>
                </a:solidFill>
              </a:rPr>
              <a:t>kostenminimale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Transformationspfad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erfüllt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ein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vorgegebenes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Emissionsbudget</a:t>
            </a:r>
            <a:r>
              <a:rPr sz="1350" b="0" dirty="0">
                <a:solidFill>
                  <a:srgbClr val="1D293D"/>
                </a:solidFill>
              </a:rPr>
              <a:t> auf Basis </a:t>
            </a:r>
            <a:r>
              <a:rPr sz="1350" b="0" dirty="0" err="1">
                <a:solidFill>
                  <a:srgbClr val="1D293D"/>
                </a:solidFill>
              </a:rPr>
              <a:t>zeitexpliziter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Lebenszyklus-Umweltwirkungen</a:t>
            </a:r>
            <a:r>
              <a:rPr sz="1350" b="0" dirty="0">
                <a:solidFill>
                  <a:srgbClr val="1D293D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5096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125954-1013-4CC7-913C-D0AA43C039D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CBB282-0C6F-4DBD-A1E4-A560E92E770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20618"/>
                </a:solidFill>
              </a:defRPr>
            </a:pPr>
            <a:r>
              <a:rPr sz="2700" b="1" dirty="0">
                <a:solidFill>
                  <a:srgbClr val="020618"/>
                </a:solidFill>
              </a:rPr>
              <a:t>4. Budget Sweep / Pareto Curve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F1602-C64C-44AC-9D8D-B00027031EEF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95500" cy="19050"/>
          </a:xfrm>
          <a:prstGeom prst="rect">
            <a:avLst/>
          </a:prstGeom>
          <a:solidFill>
            <a:srgbClr val="00549F"/>
          </a:solidFill>
          <a:ln w="0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1C00C8-0C47-433D-98BF-CE1A4A58F39C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Case Study optimex |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DF90D7-A076-420F-8F1A-15BB5C80BA0F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Ausgangspunkt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7A5688-C748-40CB-9289-8219E28BF21D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9FE20D-9296-4399-A9E8-7DBDFC43F31E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Wiederholung der Kostenminimierung für unterschiedlich strenge Emissionsbudgets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F6FD60-AF4F-41BC-9FF6-E9A234D601FA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1F6F2E-688C-4A9A-B09E-FCE8D60F4F57}"/>
              </a:ext>
            </a:extLst>
          </p:cNvPr>
          <p:cNvSpPr>
            <a:spLocks noGrp="1"/>
          </p:cNvSpPr>
          <p:nvPr/>
        </p:nvSpPr>
        <p:spPr>
          <a:xfrm>
            <a:off x="1009650" y="2762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Dadurch entsteht eine Kosten-Emissions-Front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9257BC-594C-42F6-A783-988DB14D3BF4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2EA720-2D1F-4EFE-A6B3-12E1D2FA44A9}"/>
              </a:ext>
            </a:extLst>
          </p:cNvPr>
          <p:cNvSpPr>
            <a:spLocks noGrp="1"/>
          </p:cNvSpPr>
          <p:nvPr/>
        </p:nvSpPr>
        <p:spPr>
          <a:xfrm>
            <a:off x="1009650" y="32194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Der Trade-off zwischen ökonomischer und ökologischer Zielerfüllung wird sichtbar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AC2684-29E1-4B4B-8757-6C99AB4A7D86}"/>
              </a:ext>
            </a:extLst>
          </p:cNvPr>
          <p:cNvSpPr>
            <a:spLocks noGrp="1"/>
          </p:cNvSpPr>
          <p:nvPr/>
        </p:nvSpPr>
        <p:spPr>
          <a:xfrm>
            <a:off x="6477000" y="18859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Zentrales Argument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F9C65A-6759-4197-BD13-CF06B90D831E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82AFE7-0490-4826-9745-94B00B211E19}"/>
              </a:ext>
            </a:extLst>
          </p:cNvPr>
          <p:cNvSpPr>
            <a:spLocks noGrp="1"/>
          </p:cNvSpPr>
          <p:nvPr/>
        </p:nvSpPr>
        <p:spPr>
          <a:xfrm>
            <a:off x="6800850" y="23050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Zeigt zusätzliche Kosten ambitionierterer Umweltziele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9E2AF7-E4EE-49A2-80F1-246920BF7E0F}"/>
              </a:ext>
            </a:extLst>
          </p:cNvPr>
          <p:cNvSpPr>
            <a:spLocks noGrp="1"/>
          </p:cNvSpPr>
          <p:nvPr/>
        </p:nvSpPr>
        <p:spPr>
          <a:xfrm>
            <a:off x="6477000" y="2762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C701D-03C5-4B4F-B805-935ABCEADF0E}"/>
              </a:ext>
            </a:extLst>
          </p:cNvPr>
          <p:cNvSpPr>
            <a:spLocks noGrp="1"/>
          </p:cNvSpPr>
          <p:nvPr/>
        </p:nvSpPr>
        <p:spPr>
          <a:xfrm>
            <a:off x="6800849" y="2713090"/>
            <a:ext cx="459473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 dirty="0" err="1">
                <a:solidFill>
                  <a:srgbClr val="1D293D"/>
                </a:solidFill>
              </a:rPr>
              <a:t>Zeigt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Budgetgrenzen</a:t>
            </a:r>
            <a:r>
              <a:rPr sz="1500" b="0" dirty="0">
                <a:solidFill>
                  <a:srgbClr val="1D293D"/>
                </a:solidFill>
              </a:rPr>
              <a:t>, ab </a:t>
            </a:r>
            <a:r>
              <a:rPr sz="1500" b="0" dirty="0" err="1">
                <a:solidFill>
                  <a:srgbClr val="1D293D"/>
                </a:solidFill>
              </a:rPr>
              <a:t>denen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bestimmte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Technologien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oder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frühere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Investitionen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notwendig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werden</a:t>
            </a:r>
            <a:endParaRPr sz="1500" b="0" dirty="0">
              <a:solidFill>
                <a:srgbClr val="1D293D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835AC4-9A45-4D13-8838-6D5D3B3CA04D}"/>
              </a:ext>
            </a:extLst>
          </p:cNvPr>
          <p:cNvSpPr>
            <a:spLocks noGrp="1"/>
          </p:cNvSpPr>
          <p:nvPr/>
        </p:nvSpPr>
        <p:spPr>
          <a:xfrm>
            <a:off x="6477000" y="3288274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 dirty="0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92577E-250C-4F60-BA59-8391062B78FD}"/>
              </a:ext>
            </a:extLst>
          </p:cNvPr>
          <p:cNvSpPr>
            <a:spLocks noGrp="1"/>
          </p:cNvSpPr>
          <p:nvPr/>
        </p:nvSpPr>
        <p:spPr>
          <a:xfrm>
            <a:off x="6800850" y="3239114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 dirty="0" err="1">
                <a:solidFill>
                  <a:srgbClr val="1D293D"/>
                </a:solidFill>
              </a:rPr>
              <a:t>Charakterisiert</a:t>
            </a:r>
            <a:r>
              <a:rPr sz="1500" b="0" dirty="0">
                <a:solidFill>
                  <a:srgbClr val="1D293D"/>
                </a:solidFill>
              </a:rPr>
              <a:t> den </a:t>
            </a:r>
            <a:r>
              <a:rPr sz="1500" b="0" dirty="0" err="1">
                <a:solidFill>
                  <a:srgbClr val="1D293D"/>
                </a:solidFill>
              </a:rPr>
              <a:t>Lösungsraum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zwischen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kostengünstiger</a:t>
            </a:r>
            <a:r>
              <a:rPr sz="1500" b="0" dirty="0">
                <a:solidFill>
                  <a:srgbClr val="1D293D"/>
                </a:solidFill>
              </a:rPr>
              <a:t> und </a:t>
            </a:r>
            <a:r>
              <a:rPr sz="1500" b="0" dirty="0" err="1">
                <a:solidFill>
                  <a:srgbClr val="1D293D"/>
                </a:solidFill>
              </a:rPr>
              <a:t>emissionsarmer</a:t>
            </a:r>
            <a:r>
              <a:rPr sz="1500" b="0" dirty="0">
                <a:solidFill>
                  <a:srgbClr val="1D293D"/>
                </a:solidFill>
              </a:rPr>
              <a:t> Transformation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B15348-E89E-40BB-85C5-C0CFA3228675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724015-83D8-46C6-A6FD-A27C4893B7FB}"/>
              </a:ext>
            </a:extLst>
          </p:cNvPr>
          <p:cNvSpPr>
            <a:spLocks noGrp="1"/>
          </p:cNvSpPr>
          <p:nvPr/>
        </p:nvSpPr>
        <p:spPr>
          <a:xfrm>
            <a:off x="952500" y="50101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549F"/>
                </a:solidFill>
              </a:defRPr>
            </a:pPr>
            <a:r>
              <a:rPr sz="1200" b="1">
                <a:solidFill>
                  <a:srgbClr val="00549F"/>
                </a:solidFill>
              </a:rPr>
              <a:t>Forschungsfrage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C4758B-1D59-4ED9-8828-34E3C1D652F6}"/>
              </a:ext>
            </a:extLst>
          </p:cNvPr>
          <p:cNvSpPr>
            <a:spLocks noGrp="1"/>
          </p:cNvSpPr>
          <p:nvPr/>
        </p:nvSpPr>
        <p:spPr>
          <a:xfrm>
            <a:off x="952500" y="5257800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D293D"/>
                </a:solidFill>
              </a:defRPr>
            </a:pPr>
            <a:r>
              <a:rPr sz="1350" b="0">
                <a:solidFill>
                  <a:srgbClr val="1D293D"/>
                </a:solidFill>
              </a:rPr>
              <a:t>Wie verändern sich die minimalen Transformationskosten, wenn das zulässige Emissionsbudget schrittweise verschärft wird?</a:t>
            </a:r>
          </a:p>
        </p:txBody>
      </p:sp>
    </p:spTree>
    <p:extLst>
      <p:ext uri="{BB962C8B-B14F-4D97-AF65-F5344CB8AC3E}">
        <p14:creationId xmlns:p14="http://schemas.microsoft.com/office/powerpoint/2010/main" val="490964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F3EF123-EA51-4929-B0AB-AC7C8A19173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EBCAE6-A1C1-427D-92B9-08D7AD6AF039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5. CO₂-Preis als optionale Policy-Interpretation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F1986-E491-4890-9132-F9BD4A22CD5F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95500" cy="19050"/>
          </a:xfrm>
          <a:prstGeom prst="rect">
            <a:avLst/>
          </a:prstGeom>
          <a:solidFill>
            <a:srgbClr val="00549F"/>
          </a:solidFill>
          <a:ln w="0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2B1D55-196C-453D-8C4B-3FE48A7739AA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Case Study optimex |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A59D8-638A-41D7-B931-49D240EDD335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Ausgangspunkt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A3643B-FBAC-436C-BC04-94FD396D7682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54FE17-57D7-408F-BB49-52C20639D6A8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CO₂-Preis kann als zusätzlicher Kostenbestandteil berücksichtigt werden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B537EB-F8B8-4E74-8229-A70E4E1C85E7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8D56DB-AC37-4D60-9FE0-CABD80287DA8}"/>
              </a:ext>
            </a:extLst>
          </p:cNvPr>
          <p:cNvSpPr>
            <a:spLocks noGrp="1"/>
          </p:cNvSpPr>
          <p:nvPr/>
        </p:nvSpPr>
        <p:spPr>
          <a:xfrm>
            <a:off x="1009650" y="2762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 dirty="0" err="1">
                <a:solidFill>
                  <a:srgbClr val="1D293D"/>
                </a:solidFill>
              </a:rPr>
              <a:t>Emissionsbudget</a:t>
            </a:r>
            <a:r>
              <a:rPr sz="1500" b="0" dirty="0">
                <a:solidFill>
                  <a:srgbClr val="1D293D"/>
                </a:solidFill>
              </a:rPr>
              <a:t>: </a:t>
            </a:r>
            <a:r>
              <a:rPr sz="1500" b="0" dirty="0" err="1">
                <a:solidFill>
                  <a:srgbClr val="1D293D"/>
                </a:solidFill>
              </a:rPr>
              <a:t>harte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ökologische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Zielvorgabe</a:t>
            </a:r>
            <a:endParaRPr sz="1500" b="0" dirty="0">
              <a:solidFill>
                <a:srgbClr val="1D293D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DFCA8-F5C4-40D6-8C14-E20D7446D1B4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504049-B602-49B7-8565-39E11E530D8E}"/>
              </a:ext>
            </a:extLst>
          </p:cNvPr>
          <p:cNvSpPr>
            <a:spLocks noGrp="1"/>
          </p:cNvSpPr>
          <p:nvPr/>
        </p:nvSpPr>
        <p:spPr>
          <a:xfrm>
            <a:off x="1009650" y="32194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CO₂-Preis: ökonomischer Anreiz zur Emissionsreduktion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C850ED-9154-44C9-A595-FBE70B7AA6B0}"/>
              </a:ext>
            </a:extLst>
          </p:cNvPr>
          <p:cNvSpPr>
            <a:spLocks noGrp="1"/>
          </p:cNvSpPr>
          <p:nvPr/>
        </p:nvSpPr>
        <p:spPr>
          <a:xfrm>
            <a:off x="6477000" y="18859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Zentrales Argument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311201-282B-4CBC-BAB6-0009B35442D7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BD3CC6-4445-4407-AC2D-E5B56CF2E591}"/>
              </a:ext>
            </a:extLst>
          </p:cNvPr>
          <p:cNvSpPr>
            <a:spLocks noGrp="1"/>
          </p:cNvSpPr>
          <p:nvPr/>
        </p:nvSpPr>
        <p:spPr>
          <a:xfrm>
            <a:off x="6800850" y="23050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Übersetzt die Kosten-Emissions-Front in eine politisch-ökonomische Interpretation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673A00-B6DC-451D-9829-DF5F94DF8445}"/>
              </a:ext>
            </a:extLst>
          </p:cNvPr>
          <p:cNvSpPr>
            <a:spLocks noGrp="1"/>
          </p:cNvSpPr>
          <p:nvPr/>
        </p:nvSpPr>
        <p:spPr>
          <a:xfrm>
            <a:off x="6477000" y="2762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02003-A41F-4452-A8C8-60BA37C0922D}"/>
              </a:ext>
            </a:extLst>
          </p:cNvPr>
          <p:cNvSpPr>
            <a:spLocks noGrp="1"/>
          </p:cNvSpPr>
          <p:nvPr/>
        </p:nvSpPr>
        <p:spPr>
          <a:xfrm>
            <a:off x="6800850" y="2762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 dirty="0" err="1">
                <a:solidFill>
                  <a:srgbClr val="1D293D"/>
                </a:solidFill>
              </a:rPr>
              <a:t>Analyse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kann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zeigen</a:t>
            </a:r>
            <a:r>
              <a:rPr sz="1500" b="0" dirty="0">
                <a:solidFill>
                  <a:srgbClr val="1D293D"/>
                </a:solidFill>
              </a:rPr>
              <a:t>, </a:t>
            </a:r>
            <a:r>
              <a:rPr sz="1500" b="0" dirty="0" err="1">
                <a:solidFill>
                  <a:srgbClr val="1D293D"/>
                </a:solidFill>
              </a:rPr>
              <a:t>ob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ein</a:t>
            </a:r>
            <a:r>
              <a:rPr sz="1500" b="0" dirty="0">
                <a:solidFill>
                  <a:srgbClr val="1D293D"/>
                </a:solidFill>
              </a:rPr>
              <a:t> CO₂-Preis </a:t>
            </a:r>
            <a:r>
              <a:rPr sz="1500" b="0" dirty="0" err="1">
                <a:solidFill>
                  <a:srgbClr val="1D293D"/>
                </a:solidFill>
              </a:rPr>
              <a:t>einen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emissionsarmen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Pfad</a:t>
            </a:r>
            <a:r>
              <a:rPr sz="1500" b="0" dirty="0">
                <a:solidFill>
                  <a:srgbClr val="1D293D"/>
                </a:solidFill>
              </a:rPr>
              <a:t> </a:t>
            </a:r>
            <a:r>
              <a:rPr sz="1500" b="0" dirty="0" err="1">
                <a:solidFill>
                  <a:srgbClr val="1D293D"/>
                </a:solidFill>
              </a:rPr>
              <a:t>auslöst</a:t>
            </a:r>
            <a:endParaRPr sz="1500" b="0" dirty="0">
              <a:solidFill>
                <a:srgbClr val="1D293D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329877-7654-43E1-B533-97BE7C3A8E92}"/>
              </a:ext>
            </a:extLst>
          </p:cNvPr>
          <p:cNvSpPr>
            <a:spLocks noGrp="1"/>
          </p:cNvSpPr>
          <p:nvPr/>
        </p:nvSpPr>
        <p:spPr>
          <a:xfrm>
            <a:off x="6477000" y="3219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9EE20B-8DF1-4341-B988-CD832DBFC724}"/>
              </a:ext>
            </a:extLst>
          </p:cNvPr>
          <p:cNvSpPr>
            <a:spLocks noGrp="1"/>
          </p:cNvSpPr>
          <p:nvPr/>
        </p:nvSpPr>
        <p:spPr>
          <a:xfrm>
            <a:off x="6800850" y="32194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Verbindung zu CO₂-Bepreisung und Emissionshandel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0EBEA78-10AA-494E-9CDB-CA6EA4EAF344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10858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DB8F74-87AD-4131-807E-C20C0A71A181}"/>
              </a:ext>
            </a:extLst>
          </p:cNvPr>
          <p:cNvSpPr>
            <a:spLocks noGrp="1"/>
          </p:cNvSpPr>
          <p:nvPr/>
        </p:nvSpPr>
        <p:spPr>
          <a:xfrm>
            <a:off x="952500" y="50101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549F"/>
                </a:solidFill>
              </a:defRPr>
            </a:pPr>
            <a:r>
              <a:rPr sz="1200" b="1">
                <a:solidFill>
                  <a:srgbClr val="00549F"/>
                </a:solidFill>
              </a:rPr>
              <a:t>Forschungsfrage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F815FF-3D11-4806-9D73-D30620151D36}"/>
              </a:ext>
            </a:extLst>
          </p:cNvPr>
          <p:cNvSpPr>
            <a:spLocks noGrp="1"/>
          </p:cNvSpPr>
          <p:nvPr/>
        </p:nvSpPr>
        <p:spPr>
          <a:xfrm>
            <a:off x="952500" y="5257800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D293D"/>
                </a:solidFill>
              </a:defRPr>
            </a:pPr>
            <a:r>
              <a:rPr sz="1350" b="0" dirty="0">
                <a:solidFill>
                  <a:srgbClr val="1D293D"/>
                </a:solidFill>
              </a:rPr>
              <a:t>Welcher CO₂-Preis </a:t>
            </a:r>
            <a:r>
              <a:rPr sz="1350" b="0" dirty="0" err="1">
                <a:solidFill>
                  <a:srgbClr val="1D293D"/>
                </a:solidFill>
              </a:rPr>
              <a:t>wäre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erforderlich</a:t>
            </a:r>
            <a:r>
              <a:rPr sz="1350" b="0" dirty="0">
                <a:solidFill>
                  <a:srgbClr val="1D293D"/>
                </a:solidFill>
              </a:rPr>
              <a:t>, um </a:t>
            </a:r>
            <a:r>
              <a:rPr sz="1350" b="0" dirty="0" err="1">
                <a:solidFill>
                  <a:srgbClr val="1D293D"/>
                </a:solidFill>
              </a:rPr>
              <a:t>emissionsarme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Transformationspfade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wirtschaftlich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attraktiv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zu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machen</a:t>
            </a:r>
            <a:r>
              <a:rPr sz="1350" b="0" dirty="0">
                <a:solidFill>
                  <a:srgbClr val="1D293D"/>
                </a:solidFill>
              </a:rPr>
              <a:t>, und </a:t>
            </a:r>
            <a:r>
              <a:rPr sz="1350" b="0" dirty="0" err="1">
                <a:solidFill>
                  <a:srgbClr val="1D293D"/>
                </a:solidFill>
              </a:rPr>
              <a:t>reicht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ein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gegebener</a:t>
            </a:r>
            <a:r>
              <a:rPr sz="1350" b="0" dirty="0">
                <a:solidFill>
                  <a:srgbClr val="1D293D"/>
                </a:solidFill>
              </a:rPr>
              <a:t> CO₂-Preis </a:t>
            </a:r>
            <a:r>
              <a:rPr sz="1350" b="0" dirty="0" err="1">
                <a:solidFill>
                  <a:srgbClr val="1D293D"/>
                </a:solidFill>
              </a:rPr>
              <a:t>aus</a:t>
            </a:r>
            <a:r>
              <a:rPr sz="1350" b="0" dirty="0">
                <a:solidFill>
                  <a:srgbClr val="1D293D"/>
                </a:solidFill>
              </a:rPr>
              <a:t>, um </a:t>
            </a:r>
            <a:r>
              <a:rPr sz="1350" b="0" dirty="0" err="1">
                <a:solidFill>
                  <a:srgbClr val="1D293D"/>
                </a:solidFill>
              </a:rPr>
              <a:t>ein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bestimmtes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Emissionsbudget</a:t>
            </a:r>
            <a:r>
              <a:rPr sz="1350" b="0" dirty="0">
                <a:solidFill>
                  <a:srgbClr val="1D293D"/>
                </a:solidFill>
              </a:rPr>
              <a:t> </a:t>
            </a:r>
            <a:r>
              <a:rPr sz="1350" b="0" dirty="0" err="1">
                <a:solidFill>
                  <a:srgbClr val="1D293D"/>
                </a:solidFill>
              </a:rPr>
              <a:t>einzuhalten</a:t>
            </a:r>
            <a:r>
              <a:rPr sz="1350" b="0" dirty="0">
                <a:solidFill>
                  <a:srgbClr val="1D293D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21284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B7E9D3F-70F9-43D9-BB9D-5473A363E93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1899E4-2E0D-4FE0-845B-98D8927E847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Roter Faden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DD2FEB-8E03-489D-AB59-21A2D5A32A9C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95500" cy="19050"/>
          </a:xfrm>
          <a:prstGeom prst="rect">
            <a:avLst/>
          </a:prstGeom>
          <a:solidFill>
            <a:srgbClr val="00549F"/>
          </a:solidFill>
          <a:ln w="0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8D65C8-D09E-4B31-BCA0-2B827578D4D5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Case Study optimex |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7183A2-3AA7-4101-BF3C-52179FEC855A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F172B"/>
                </a:solidFill>
              </a:defRPr>
            </a:pPr>
            <a:r>
              <a:rPr sz="1725" b="1">
                <a:solidFill>
                  <a:srgbClr val="0F172B"/>
                </a:solidFill>
              </a:rPr>
              <a:t>Cost-only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4A827A-A7C0-4915-B4C3-E0703FFF54F7}"/>
              </a:ext>
            </a:extLst>
          </p:cNvPr>
          <p:cNvSpPr>
            <a:spLocks noGrp="1"/>
          </p:cNvSpPr>
          <p:nvPr/>
        </p:nvSpPr>
        <p:spPr>
          <a:xfrm>
            <a:off x="4286250" y="1962150"/>
            <a:ext cx="657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zeigt, was aus rein wirtschaftlicher Sicht optimal wäre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C2BCC4-B973-4C7D-BAE7-157429076DF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9906000" cy="190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D42190-1078-4EC0-9CED-DCA416CF2C11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F172B"/>
                </a:solidFill>
              </a:defRPr>
            </a:pPr>
            <a:r>
              <a:rPr sz="1725" b="1">
                <a:solidFill>
                  <a:srgbClr val="0F172B"/>
                </a:solidFill>
              </a:rPr>
              <a:t>Environmental-only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51473C-387A-4E43-8CCD-7C83FA8FC4DD}"/>
              </a:ext>
            </a:extLst>
          </p:cNvPr>
          <p:cNvSpPr>
            <a:spLocks noGrp="1"/>
          </p:cNvSpPr>
          <p:nvPr/>
        </p:nvSpPr>
        <p:spPr>
          <a:xfrm>
            <a:off x="4286250" y="2743200"/>
            <a:ext cx="657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zeigt, was aus rein ökologischer Sicht optimal wäre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B560D8-B21E-41F5-A9C5-615404716900}"/>
              </a:ext>
            </a:extLst>
          </p:cNvPr>
          <p:cNvSpPr>
            <a:spLocks noGrp="1"/>
          </p:cNvSpPr>
          <p:nvPr/>
        </p:nvSpPr>
        <p:spPr>
          <a:xfrm>
            <a:off x="876300" y="3276600"/>
            <a:ext cx="9906000" cy="190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0F79E2-4328-401D-AC03-343E4949EF56}"/>
              </a:ext>
            </a:extLst>
          </p:cNvPr>
          <p:cNvSpPr>
            <a:spLocks noGrp="1"/>
          </p:cNvSpPr>
          <p:nvPr/>
        </p:nvSpPr>
        <p:spPr>
          <a:xfrm>
            <a:off x="876300" y="35052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549F"/>
                </a:solidFill>
              </a:defRPr>
            </a:pPr>
            <a:r>
              <a:rPr sz="1725" b="1">
                <a:solidFill>
                  <a:srgbClr val="00549F"/>
                </a:solidFill>
              </a:rPr>
              <a:t>Emission budget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EA03DC-1AD2-456F-A955-BA4D735C9A44}"/>
              </a:ext>
            </a:extLst>
          </p:cNvPr>
          <p:cNvSpPr>
            <a:spLocks noGrp="1"/>
          </p:cNvSpPr>
          <p:nvPr/>
        </p:nvSpPr>
        <p:spPr>
          <a:xfrm>
            <a:off x="4286250" y="3524250"/>
            <a:ext cx="668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 dirty="0" err="1">
                <a:solidFill>
                  <a:srgbClr val="1D293D"/>
                </a:solidFill>
              </a:rPr>
              <a:t>verbindet</a:t>
            </a:r>
            <a:r>
              <a:rPr sz="1575" b="0" dirty="0">
                <a:solidFill>
                  <a:srgbClr val="1D293D"/>
                </a:solidFill>
              </a:rPr>
              <a:t> </a:t>
            </a:r>
            <a:r>
              <a:rPr sz="1575" b="0" dirty="0" err="1">
                <a:solidFill>
                  <a:srgbClr val="1D293D"/>
                </a:solidFill>
              </a:rPr>
              <a:t>beide</a:t>
            </a:r>
            <a:r>
              <a:rPr sz="1575" b="0" dirty="0">
                <a:solidFill>
                  <a:srgbClr val="1D293D"/>
                </a:solidFill>
              </a:rPr>
              <a:t> </a:t>
            </a:r>
            <a:r>
              <a:rPr sz="1575" b="0" dirty="0" err="1">
                <a:solidFill>
                  <a:srgbClr val="1D293D"/>
                </a:solidFill>
              </a:rPr>
              <a:t>Perspektiven</a:t>
            </a:r>
            <a:r>
              <a:rPr sz="1575" b="0" dirty="0">
                <a:solidFill>
                  <a:srgbClr val="1D293D"/>
                </a:solidFill>
              </a:rPr>
              <a:t>: </a:t>
            </a:r>
            <a:r>
              <a:rPr sz="1575" b="0" dirty="0" err="1">
                <a:solidFill>
                  <a:srgbClr val="1D293D"/>
                </a:solidFill>
              </a:rPr>
              <a:t>ökologische</a:t>
            </a:r>
            <a:r>
              <a:rPr sz="1575" b="0" dirty="0">
                <a:solidFill>
                  <a:srgbClr val="1D293D"/>
                </a:solidFill>
              </a:rPr>
              <a:t> </a:t>
            </a:r>
            <a:r>
              <a:rPr sz="1575" b="0" dirty="0" err="1">
                <a:solidFill>
                  <a:srgbClr val="1D293D"/>
                </a:solidFill>
              </a:rPr>
              <a:t>Ziele</a:t>
            </a:r>
            <a:r>
              <a:rPr sz="1575" b="0" dirty="0">
                <a:solidFill>
                  <a:srgbClr val="1D293D"/>
                </a:solidFill>
              </a:rPr>
              <a:t> </a:t>
            </a:r>
            <a:r>
              <a:rPr sz="1575" b="0" dirty="0" err="1">
                <a:solidFill>
                  <a:srgbClr val="1D293D"/>
                </a:solidFill>
              </a:rPr>
              <a:t>zu</a:t>
            </a:r>
            <a:r>
              <a:rPr sz="1575" b="0" dirty="0">
                <a:solidFill>
                  <a:srgbClr val="1D293D"/>
                </a:solidFill>
              </a:rPr>
              <a:t> </a:t>
            </a:r>
            <a:r>
              <a:rPr sz="1575" b="0" dirty="0" err="1">
                <a:solidFill>
                  <a:srgbClr val="1D293D"/>
                </a:solidFill>
              </a:rPr>
              <a:t>minimalen</a:t>
            </a:r>
            <a:r>
              <a:rPr sz="1575" b="0" dirty="0">
                <a:solidFill>
                  <a:srgbClr val="1D293D"/>
                </a:solidFill>
              </a:rPr>
              <a:t> Kosten </a:t>
            </a:r>
            <a:r>
              <a:rPr sz="1575" b="0" dirty="0" err="1">
                <a:solidFill>
                  <a:srgbClr val="1D293D"/>
                </a:solidFill>
              </a:rPr>
              <a:t>erreichen</a:t>
            </a:r>
            <a:endParaRPr sz="1575" b="0" dirty="0">
              <a:solidFill>
                <a:srgbClr val="1D293D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ABBF37-E0CE-45F6-A758-1E418AA487DF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9906000" cy="190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016EF4-FC29-40CD-AB29-360BF0E52811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F172B"/>
                </a:solidFill>
              </a:defRPr>
            </a:pPr>
            <a:r>
              <a:rPr sz="1725" b="1">
                <a:solidFill>
                  <a:srgbClr val="0F172B"/>
                </a:solidFill>
              </a:rPr>
              <a:t>Budget sweep / Pareto curve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76D044-7B0F-4F6A-BE6C-0C5E0CD2C711}"/>
              </a:ext>
            </a:extLst>
          </p:cNvPr>
          <p:cNvSpPr>
            <a:spLocks noGrp="1"/>
          </p:cNvSpPr>
          <p:nvPr/>
        </p:nvSpPr>
        <p:spPr>
          <a:xfrm>
            <a:off x="4286250" y="4305300"/>
            <a:ext cx="657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quantifiziert die Mehrkosten strengerer Umweltanforderungen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67127C-66BE-4BAD-997A-8B0CC307B765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9906000" cy="190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A00447-27AA-4E9A-9ED8-DDB20EE7FA0C}"/>
              </a:ext>
            </a:extLst>
          </p:cNvPr>
          <p:cNvSpPr>
            <a:spLocks noGrp="1"/>
          </p:cNvSpPr>
          <p:nvPr/>
        </p:nvSpPr>
        <p:spPr>
          <a:xfrm>
            <a:off x="876300" y="50673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F172B"/>
                </a:solidFill>
              </a:defRPr>
            </a:pPr>
            <a:r>
              <a:rPr sz="1725" b="1">
                <a:solidFill>
                  <a:srgbClr val="0F172B"/>
                </a:solidFill>
              </a:rPr>
              <a:t>CO₂ price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13FDF1-82FD-4AE5-AFE8-08EAF1892FA8}"/>
              </a:ext>
            </a:extLst>
          </p:cNvPr>
          <p:cNvSpPr>
            <a:spLocks noGrp="1"/>
          </p:cNvSpPr>
          <p:nvPr/>
        </p:nvSpPr>
        <p:spPr>
          <a:xfrm>
            <a:off x="4286250" y="5086350"/>
            <a:ext cx="657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interpretiert die Ergebnisse als ökonomische Anreiz- und Politikinstrumente</a:t>
            </a:r>
          </a:p>
        </p:txBody>
      </p:sp>
    </p:spTree>
    <p:extLst>
      <p:ext uri="{BB962C8B-B14F-4D97-AF65-F5344CB8AC3E}">
        <p14:creationId xmlns:p14="http://schemas.microsoft.com/office/powerpoint/2010/main" val="1866626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008127-5911-416B-ADF7-3BC8E3A6660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95F146-7580-4568-B1F7-EF19AA4E5BC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Zentrale Capability der Erweiterung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C65C53-C476-4A02-8260-FE58EC6F5608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95500" cy="19050"/>
          </a:xfrm>
          <a:prstGeom prst="rect">
            <a:avLst/>
          </a:prstGeom>
          <a:solidFill>
            <a:srgbClr val="00549F"/>
          </a:solidFill>
          <a:ln w="0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FE5E4C-7D80-4CDF-B4CD-8DCEEA58A880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Case Study optimex |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D9B5C-77E9-453D-840B-9EBD2B198092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D293D"/>
                </a:solidFill>
              </a:defRPr>
            </a:pPr>
            <a:r>
              <a:rPr sz="1800" b="0">
                <a:solidFill>
                  <a:srgbClr val="1D293D"/>
                </a:solidFill>
              </a:rPr>
              <a:t>optimex kann nicht nur Umweltwirkungen zeitexplizit bewerten oder minimieren.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6BF8A-FB80-402D-AB02-14BBBEDB7434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Zusätzlich kann das Framework: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C4298A-0F81-439D-B428-FB8C4C575F0F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549F"/>
                </a:solidFill>
              </a:defRPr>
            </a:pPr>
            <a:r>
              <a:rPr sz="1575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BEAA01-3217-4CEF-876F-0E3FD81617DE}"/>
              </a:ext>
            </a:extLst>
          </p:cNvPr>
          <p:cNvSpPr>
            <a:spLocks noGrp="1"/>
          </p:cNvSpPr>
          <p:nvPr/>
        </p:nvSpPr>
        <p:spPr>
          <a:xfrm>
            <a:off x="1200150" y="3143250"/>
            <a:ext cx="9582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kostenoptimale Transformationspfade unter ökologischen Zielvorgaben bestimmen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23EBF7-C734-42F5-8710-6F872F6187FF}"/>
              </a:ext>
            </a:extLst>
          </p:cNvPr>
          <p:cNvSpPr>
            <a:spLocks noGrp="1"/>
          </p:cNvSpPr>
          <p:nvPr/>
        </p:nvSpPr>
        <p:spPr>
          <a:xfrm>
            <a:off x="876300" y="36099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549F"/>
                </a:solidFill>
              </a:defRPr>
            </a:pPr>
            <a:r>
              <a:rPr sz="1575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DD91B-60E4-434D-936E-77F4F8C18AF5}"/>
              </a:ext>
            </a:extLst>
          </p:cNvPr>
          <p:cNvSpPr>
            <a:spLocks noGrp="1"/>
          </p:cNvSpPr>
          <p:nvPr/>
        </p:nvSpPr>
        <p:spPr>
          <a:xfrm>
            <a:off x="1200150" y="3609975"/>
            <a:ext cx="9582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ökonomische und ökologische Trade-offs analysieren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19BDA-4094-4BFC-8415-476CEB97DA48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549F"/>
                </a:solidFill>
              </a:defRPr>
            </a:pPr>
            <a:r>
              <a:rPr sz="1575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1F2DFA-8E9E-45A0-9C77-5868D6A4C709}"/>
              </a:ext>
            </a:extLst>
          </p:cNvPr>
          <p:cNvSpPr>
            <a:spLocks noGrp="1"/>
          </p:cNvSpPr>
          <p:nvPr/>
        </p:nvSpPr>
        <p:spPr>
          <a:xfrm>
            <a:off x="1200150" y="4076700"/>
            <a:ext cx="9582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Kosten der Zielerfüllung quantifizieren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CD5E69-CCE8-48BE-AB09-A7321A56BA2A}"/>
              </a:ext>
            </a:extLst>
          </p:cNvPr>
          <p:cNvSpPr>
            <a:spLocks noGrp="1"/>
          </p:cNvSpPr>
          <p:nvPr/>
        </p:nvSpPr>
        <p:spPr>
          <a:xfrm>
            <a:off x="876300" y="45434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549F"/>
                </a:solidFill>
              </a:defRPr>
            </a:pPr>
            <a:r>
              <a:rPr sz="1575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396C3E-CA60-4F84-9076-FC4564F3F255}"/>
              </a:ext>
            </a:extLst>
          </p:cNvPr>
          <p:cNvSpPr>
            <a:spLocks noGrp="1"/>
          </p:cNvSpPr>
          <p:nvPr/>
        </p:nvSpPr>
        <p:spPr>
          <a:xfrm>
            <a:off x="1200150" y="4543425"/>
            <a:ext cx="9582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Technologieentscheidungen und Transformationszeitpunkte unter Kosten- und Umweltrestriktionen untersuchen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88FACE-99C4-4839-901E-6FABF0329F8E}"/>
              </a:ext>
            </a:extLst>
          </p:cNvPr>
          <p:cNvSpPr>
            <a:spLocks noGrp="1"/>
          </p:cNvSpPr>
          <p:nvPr/>
        </p:nvSpPr>
        <p:spPr>
          <a:xfrm>
            <a:off x="876300" y="50101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549F"/>
                </a:solidFill>
              </a:defRPr>
            </a:pPr>
            <a:r>
              <a:rPr sz="1575" b="1">
                <a:solidFill>
                  <a:srgbClr val="00549F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FC040B-260C-48B6-AF9E-24DAA41731F9}"/>
              </a:ext>
            </a:extLst>
          </p:cNvPr>
          <p:cNvSpPr>
            <a:spLocks noGrp="1"/>
          </p:cNvSpPr>
          <p:nvPr/>
        </p:nvSpPr>
        <p:spPr>
          <a:xfrm>
            <a:off x="1200150" y="5010150"/>
            <a:ext cx="9582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D293D"/>
                </a:solidFill>
              </a:defRPr>
            </a:pPr>
            <a:r>
              <a:rPr sz="1575" b="0">
                <a:solidFill>
                  <a:srgbClr val="1D293D"/>
                </a:solidFill>
              </a:rPr>
              <a:t>CO₂-Preise als mögliche Anreizmechanismen interpretieren</a:t>
            </a:r>
          </a:p>
        </p:txBody>
      </p:sp>
    </p:spTree>
    <p:extLst>
      <p:ext uri="{BB962C8B-B14F-4D97-AF65-F5344CB8AC3E}">
        <p14:creationId xmlns:p14="http://schemas.microsoft.com/office/powerpoint/2010/main" val="12536870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</Words>
  <Application>Microsoft Office PowerPoint</Application>
  <DocSecurity>0</DocSecurity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 Lange</cp:lastModifiedBy>
  <cp:revision>3</cp:revision>
  <dcterms:created xsi:type="dcterms:W3CDTF">2026-06-22T13:41:28Z</dcterms:created>
  <dcterms:modified xsi:type="dcterms:W3CDTF">2026-06-22T13:55:09Z</dcterms:modified>
</cp:coreProperties>
</file>